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3a7b654fd94ee8" /><Relationship Type="http://schemas.openxmlformats.org/officeDocument/2006/relationships/extended-properties" Target="/docProps/app.xml" Id="R93ccff721efa412a" /><Relationship Type="http://schemas.openxmlformats.org/officeDocument/2006/relationships/officeDocument" Target="/ppt/presentation.xml" Id="R69c92a0d3a5743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6e4ebdfb14953"/>
  </p:sldMasterIdLst>
  <p:notesMasterIdLst>
    <p:notesMasterId xmlns:r="http://schemas.openxmlformats.org/officeDocument/2006/relationships" r:id="R4a91c2a736de4639"/>
  </p:notesMasterIdLst>
  <p:sldIdLst>
    <p:sldId xmlns:r="http://schemas.openxmlformats.org/officeDocument/2006/relationships" id="256" r:id="R63a02c8a85fe444c"/>
  </p:sldIdLst>
  <p:sldSz cx="17145000" cy="457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1341edb7146a4" /><Relationship Type="http://schemas.openxmlformats.org/officeDocument/2006/relationships/slideMaster" Target="/ppt/slideMasters/slideMaster1.xml" Id="Rf506e4ebdfb14953" /><Relationship Type="http://schemas.openxmlformats.org/officeDocument/2006/relationships/notesMaster" Target="/ppt/notesMasters/notesMaster1.xml" Id="R4a91c2a736de4639" /><Relationship Type="http://schemas.openxmlformats.org/officeDocument/2006/relationships/presProps" Target="/ppt/presProps.xml" Id="R8d3617a7d5eb4188" /><Relationship Type="http://schemas.openxmlformats.org/officeDocument/2006/relationships/tableStyles" Target="/ppt/tableStyles.xml" Id="Rda22a1ef8c1c43d5" /><Relationship Type="http://schemas.openxmlformats.org/officeDocument/2006/relationships/slide" Target="/ppt/slides/slide1.xml" Id="R63a02c8a85fe44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49fea7f64e49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710e2b08504f14" /><Relationship Type="http://schemas.openxmlformats.org/officeDocument/2006/relationships/notesMaster" Target="/ppt/notesMasters/notesMaster1.xml" Id="Rb69ce8a4b47a47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/cluster/home/yizhechi/ai4ai-bench-paper/Figures/generated/fig_pipeline.pdf (accessed 2026-08-18)</a:t>
            </a:r>
          </a:p>
          <a:p xmlns:a="http://schemas.openxmlformats.org/drawingml/2006/main">
            <a:r>
              <a:t>- /cluster/home/yizhechi/migrations/ai4ai-paper-migration-20260818/claude-server/workspaces/ai4ai-paper/paper-rewrite/scripts/make_pipeline.py (accessed 2026-08-19)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4920dc0094e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f7ef280f7b4d21" /><Relationship Type="http://schemas.openxmlformats.org/officeDocument/2006/relationships/slideLayout" Target="/ppt/slideLayouts/slideLayout1.xml" Id="Rb04012187a7f4e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012187a7f4e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90485e8804cd3" /><Relationship Type="http://schemas.openxmlformats.org/officeDocument/2006/relationships/notesSlide" Target="/ppt/notesSlides/notesSlide1.xml" Id="Ra1cfad29d0ef4d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header-frozen-surface">
            <a:extLst xmlns:a="http://schemas.openxmlformats.org/drawingml/2006/main">
              <a:ext uri="{FF2B5EF4-FFF2-40B4-BE49-F238E27FC236}">
                <a16:creationId xmlns:a16="http://schemas.microsoft.com/office/drawing/2014/main" id="{02D5456C-962F-493F-87AF-C9930312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66675"/>
            <a:ext cx="2428875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1ECE3"/>
          </a:solidFill>
          <a:ln xmlns:a="http://schemas.openxmlformats.org/drawingml/2006/main" w="9525">
            <a:solidFill>
              <a:srgbClr val="E4DCCF"/>
            </a:solidFill>
            <a:prstDash val="solid"/>
          </a:ln>
        </p:spPr>
      </p:sp>
      <p:sp>
        <p:nvSpPr>
          <p:cNvPr id="2" name="header-frozen-label">
            <a:extLst xmlns:a="http://schemas.openxmlformats.org/drawingml/2006/main">
              <a:ext uri="{FF2B5EF4-FFF2-40B4-BE49-F238E27FC236}">
                <a16:creationId xmlns:a16="http://schemas.microsoft.com/office/drawing/2014/main" id="{AE8F1532-96CC-43DE-BAC2-8B133A46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952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125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FROZEN TASK</a:t>
            </a:r>
          </a:p>
        </p:txBody>
      </p:sp>
      <p:sp>
        <p:nvSpPr>
          <p:cNvPr id="3" name="header-lanes-surface">
            <a:extLst xmlns:a="http://schemas.openxmlformats.org/drawingml/2006/main">
              <a:ext uri="{FF2B5EF4-FFF2-40B4-BE49-F238E27FC236}">
                <a16:creationId xmlns:a16="http://schemas.microsoft.com/office/drawing/2014/main" id="{236F9827-5AC6-4AAA-8A52-91F4CFF8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6675"/>
            <a:ext cx="46482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1ECE3"/>
          </a:solidFill>
          <a:ln xmlns:a="http://schemas.openxmlformats.org/drawingml/2006/main" w="9525">
            <a:solidFill>
              <a:srgbClr val="E4DCCF"/>
            </a:solidFill>
            <a:prstDash val="solid"/>
          </a:ln>
        </p:spPr>
      </p:sp>
      <p:sp>
        <p:nvSpPr>
          <p:cNvPr id="4" name="header-lanes-label">
            <a:extLst xmlns:a="http://schemas.openxmlformats.org/drawingml/2006/main">
              <a:ext uri="{FF2B5EF4-FFF2-40B4-BE49-F238E27FC236}">
                <a16:creationId xmlns:a16="http://schemas.microsoft.com/office/drawing/2014/main" id="{9571CE53-C6D8-4C90-BBC4-D3083DF2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952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125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THREE MEASURED LANES</a:t>
            </a:r>
          </a:p>
        </p:txBody>
      </p:sp>
      <p:sp>
        <p:nvSpPr>
          <p:cNvPr id="5" name="header-source-surface">
            <a:extLst xmlns:a="http://schemas.openxmlformats.org/drawingml/2006/main">
              <a:ext uri="{FF2B5EF4-FFF2-40B4-BE49-F238E27FC236}">
                <a16:creationId xmlns:a16="http://schemas.microsoft.com/office/drawing/2014/main" id="{9DD5605A-4DD5-4EB9-B69C-FBC29A53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675"/>
            <a:ext cx="20955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1ECE3"/>
          </a:solidFill>
          <a:ln xmlns:a="http://schemas.openxmlformats.org/drawingml/2006/main" w="9525">
            <a:solidFill>
              <a:srgbClr val="E4DCCF"/>
            </a:solidFill>
            <a:prstDash val="solid"/>
          </a:ln>
        </p:spPr>
      </p:sp>
      <p:sp>
        <p:nvSpPr>
          <p:cNvPr id="6" name="header-source-label">
            <a:extLst xmlns:a="http://schemas.openxmlformats.org/drawingml/2006/main">
              <a:ext uri="{FF2B5EF4-FFF2-40B4-BE49-F238E27FC236}">
                <a16:creationId xmlns:a16="http://schemas.microsoft.com/office/drawing/2014/main" id="{B4F51C4B-03A4-4259-AE7C-B5FD95C7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9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125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SOURCE-ONLY</a:t>
            </a:r>
          </a:p>
        </p:txBody>
      </p:sp>
      <p:sp>
        <p:nvSpPr>
          <p:cNvPr id="7" name="header-replay-surface">
            <a:extLst xmlns:a="http://schemas.openxmlformats.org/drawingml/2006/main">
              <a:ext uri="{FF2B5EF4-FFF2-40B4-BE49-F238E27FC236}">
                <a16:creationId xmlns:a16="http://schemas.microsoft.com/office/drawing/2014/main" id="{094DED57-40A0-4B56-ABE8-D16ADA13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675"/>
            <a:ext cx="3838575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1ECE3"/>
          </a:solidFill>
          <a:ln xmlns:a="http://schemas.openxmlformats.org/drawingml/2006/main" w="9525">
            <a:solidFill>
              <a:srgbClr val="E4DCCF"/>
            </a:solidFill>
            <a:prstDash val="solid"/>
          </a:ln>
        </p:spPr>
      </p:sp>
      <p:sp>
        <p:nvSpPr>
          <p:cNvPr id="8" name="header-replay-label">
            <a:extLst xmlns:a="http://schemas.openxmlformats.org/drawingml/2006/main">
              <a:ext uri="{FF2B5EF4-FFF2-40B4-BE49-F238E27FC236}">
                <a16:creationId xmlns:a16="http://schemas.microsoft.com/office/drawing/2014/main" id="{033DB29D-68C3-4CA3-B6F7-5C2216A7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95250"/>
            <a:ext cx="3743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125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FORMAL REPLAY</a:t>
            </a:r>
          </a:p>
        </p:txBody>
      </p:sp>
      <p:sp>
        <p:nvSpPr>
          <p:cNvPr id="9" name="header-eval-surface">
            <a:extLst xmlns:a="http://schemas.openxmlformats.org/drawingml/2006/main">
              <a:ext uri="{FF2B5EF4-FFF2-40B4-BE49-F238E27FC236}">
                <a16:creationId xmlns:a16="http://schemas.microsoft.com/office/drawing/2014/main" id="{EE069A49-82E0-43B5-A3B1-7986A872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66675"/>
            <a:ext cx="3629025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1ECE3"/>
          </a:solidFill>
          <a:ln xmlns:a="http://schemas.openxmlformats.org/drawingml/2006/main" w="9525">
            <a:solidFill>
              <a:srgbClr val="E4DCCF"/>
            </a:solidFill>
            <a:prstDash val="solid"/>
          </a:ln>
        </p:spPr>
      </p:sp>
      <p:sp>
        <p:nvSpPr>
          <p:cNvPr id="10" name="header-eval-label">
            <a:extLst xmlns:a="http://schemas.openxmlformats.org/drawingml/2006/main">
              <a:ext uri="{FF2B5EF4-FFF2-40B4-BE49-F238E27FC236}">
                <a16:creationId xmlns:a16="http://schemas.microsoft.com/office/drawing/2014/main" id="{4B188776-0AA0-4F6F-8B6D-4D7B6B5F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95250"/>
            <a:ext cx="3533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88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INDEPENDENT EVALUATION</a:t>
            </a:r>
          </a:p>
        </p:txBody>
      </p:sp>
      <p:sp>
        <p:nvSpPr>
          <p:cNvPr id="11" name="lane-frozen-task">
            <a:extLst xmlns:a="http://schemas.openxmlformats.org/drawingml/2006/main">
              <a:ext uri="{FF2B5EF4-FFF2-40B4-BE49-F238E27FC236}">
                <a16:creationId xmlns:a16="http://schemas.microsoft.com/office/drawing/2014/main" id="{D4C72019-A04E-4B05-99EC-35DC89C3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76250"/>
            <a:ext cx="2428875" cy="3952875"/>
          </a:xfrm>
          <a:prstGeom xmlns:a="http://schemas.openxmlformats.org/drawingml/2006/main" prst="roundRect">
            <a:avLst>
              <a:gd name="adj" fmla="val 43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0E5"/>
            </a:solidFill>
            <a:prstDash val="solid"/>
          </a:ln>
        </p:spPr>
      </p:sp>
      <p:sp>
        <p:nvSpPr>
          <p:cNvPr id="12" name="lane-three-measured">
            <a:extLst xmlns:a="http://schemas.openxmlformats.org/drawingml/2006/main">
              <a:ext uri="{FF2B5EF4-FFF2-40B4-BE49-F238E27FC236}">
                <a16:creationId xmlns:a16="http://schemas.microsoft.com/office/drawing/2014/main" id="{B4267938-202F-4A36-AFE2-1A20F65B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6250"/>
            <a:ext cx="4648200" cy="3952875"/>
          </a:xfrm>
          <a:prstGeom xmlns:a="http://schemas.openxmlformats.org/drawingml/2006/main" prst="roundRect">
            <a:avLst>
              <a:gd name="adj" fmla="val 265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1430">
            <a:solidFill>
              <a:srgbClr val="DCE0E5"/>
            </a:solidFill>
            <a:prstDash val="solid"/>
          </a:ln>
        </p:spPr>
      </p:sp>
      <p:sp>
        <p:nvSpPr>
          <p:cNvPr id="13" name="lane-source-only">
            <a:extLst xmlns:a="http://schemas.openxmlformats.org/drawingml/2006/main">
              <a:ext uri="{FF2B5EF4-FFF2-40B4-BE49-F238E27FC236}">
                <a16:creationId xmlns:a16="http://schemas.microsoft.com/office/drawing/2014/main" id="{ADE3D334-B079-409A-B7BF-68817A0E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"/>
            <a:ext cx="2095500" cy="395287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11430">
            <a:solidFill>
              <a:srgbClr val="DCE0E5"/>
            </a:solidFill>
            <a:prstDash val="solid"/>
          </a:ln>
        </p:spPr>
      </p:sp>
      <p:sp>
        <p:nvSpPr>
          <p:cNvPr id="14" name="lane-formal-replay">
            <a:extLst xmlns:a="http://schemas.openxmlformats.org/drawingml/2006/main">
              <a:ext uri="{FF2B5EF4-FFF2-40B4-BE49-F238E27FC236}">
                <a16:creationId xmlns:a16="http://schemas.microsoft.com/office/drawing/2014/main" id="{BDB11C4A-60FA-4561-A1F0-350583FB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76250"/>
            <a:ext cx="3838575" cy="3952875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FCFAF7"/>
          </a:solidFill>
          <a:ln xmlns:a="http://schemas.openxmlformats.org/drawingml/2006/main" w="11430">
            <a:solidFill>
              <a:srgbClr val="DCE0E5"/>
            </a:solidFill>
            <a:prstDash val="solid"/>
          </a:ln>
        </p:spPr>
      </p:sp>
      <p:sp>
        <p:nvSpPr>
          <p:cNvPr id="15" name="flow-frozen-start-line">
            <a:extLst xmlns:a="http://schemas.openxmlformats.org/drawingml/2006/main">
              <a:ext uri="{FF2B5EF4-FFF2-40B4-BE49-F238E27FC236}">
                <a16:creationId xmlns:a16="http://schemas.microsoft.com/office/drawing/2014/main" id="{72CE0F19-B53C-43C9-AA26-E58CF9F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52675" y="714375"/>
            <a:ext cx="30546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432">
            <a:solidFill>
              <a:srgbClr val="3E7CB4"/>
            </a:solidFill>
            <a:prstDash val="solid"/>
          </a:ln>
        </p:spPr>
      </p:sp>
      <p:sp>
        <p:nvSpPr>
          <p:cNvPr id="16" name="flow-frozen-start-head">
            <a:extLst xmlns:a="http://schemas.openxmlformats.org/drawingml/2006/main">
              <a:ext uri="{FF2B5EF4-FFF2-40B4-BE49-F238E27FC236}">
                <a16:creationId xmlns:a16="http://schemas.microsoft.com/office/drawing/2014/main" id="{5806E32E-DCB0-4A56-98B1-0C510B5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24138" y="673894"/>
            <a:ext cx="80963" cy="8096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E7CB4"/>
          </a:solidFill>
          <a:ln xmlns:a="http://schemas.openxmlformats.org/drawingml/2006/main" w="0">
            <a:solidFill>
              <a:srgbClr val="3E7CB4"/>
            </a:solidFill>
            <a:prstDash val="solid"/>
          </a:ln>
        </p:spPr>
      </p:sp>
      <p:sp>
        <p:nvSpPr>
          <p:cNvPr id="17" name="flow-frozen-recipe-line">
            <a:extLst xmlns:a="http://schemas.openxmlformats.org/drawingml/2006/main">
              <a:ext uri="{FF2B5EF4-FFF2-40B4-BE49-F238E27FC236}">
                <a16:creationId xmlns:a16="http://schemas.microsoft.com/office/drawing/2014/main" id="{8C7087B5-5A58-427E-B225-ED231739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52675" y="1485900"/>
            <a:ext cx="30546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432">
            <a:solidFill>
              <a:srgbClr val="4E9AA6"/>
            </a:solidFill>
            <a:prstDash val="solid"/>
          </a:ln>
        </p:spPr>
      </p:sp>
      <p:sp>
        <p:nvSpPr>
          <p:cNvPr id="18" name="flow-frozen-recipe-head">
            <a:extLst xmlns:a="http://schemas.openxmlformats.org/drawingml/2006/main">
              <a:ext uri="{FF2B5EF4-FFF2-40B4-BE49-F238E27FC236}">
                <a16:creationId xmlns:a16="http://schemas.microsoft.com/office/drawing/2014/main" id="{01A7FCED-9D65-4FAB-BA77-89AC4265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24138" y="1445419"/>
            <a:ext cx="80963" cy="8096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9AA6"/>
          </a:solidFill>
          <a:ln xmlns:a="http://schemas.openxmlformats.org/drawingml/2006/main" w="0">
            <a:solidFill>
              <a:srgbClr val="4E9AA6"/>
            </a:solidFill>
            <a:prstDash val="solid"/>
          </a:ln>
        </p:spPr>
      </p:sp>
      <p:sp>
        <p:nvSpPr>
          <p:cNvPr id="19" name="flow-frozen-agent-line">
            <a:extLst xmlns:a="http://schemas.openxmlformats.org/drawingml/2006/main">
              <a:ext uri="{FF2B5EF4-FFF2-40B4-BE49-F238E27FC236}">
                <a16:creationId xmlns:a16="http://schemas.microsoft.com/office/drawing/2014/main" id="{B38BA3E6-B2CB-46B0-B85D-0260E154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52675" y="2286000"/>
            <a:ext cx="30546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432">
            <a:solidFill>
              <a:srgbClr val="E0863F"/>
            </a:solidFill>
            <a:prstDash val="solid"/>
          </a:ln>
        </p:spPr>
      </p:sp>
      <p:sp>
        <p:nvSpPr>
          <p:cNvPr id="20" name="flow-frozen-agent-head">
            <a:extLst xmlns:a="http://schemas.openxmlformats.org/drawingml/2006/main">
              <a:ext uri="{FF2B5EF4-FFF2-40B4-BE49-F238E27FC236}">
                <a16:creationId xmlns:a16="http://schemas.microsoft.com/office/drawing/2014/main" id="{608BB875-9ADD-4A88-ADC5-4F2C6229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24138" y="2245519"/>
            <a:ext cx="80963" cy="8096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21" name="flow-agent-patch-line">
            <a:extLst xmlns:a="http://schemas.openxmlformats.org/drawingml/2006/main">
              <a:ext uri="{FF2B5EF4-FFF2-40B4-BE49-F238E27FC236}">
                <a16:creationId xmlns:a16="http://schemas.microsoft.com/office/drawing/2014/main" id="{B098D1CF-CD1E-48F9-A2F0-461D7849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24700" y="2286000"/>
            <a:ext cx="56511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576">
            <a:solidFill>
              <a:srgbClr val="E0863F"/>
            </a:solidFill>
            <a:prstDash val="solid"/>
          </a:ln>
        </p:spPr>
      </p:sp>
      <p:sp>
        <p:nvSpPr>
          <p:cNvPr id="22" name="flow-agent-patch-head">
            <a:extLst xmlns:a="http://schemas.openxmlformats.org/drawingml/2006/main">
              <a:ext uri="{FF2B5EF4-FFF2-40B4-BE49-F238E27FC236}">
                <a16:creationId xmlns:a16="http://schemas.microsoft.com/office/drawing/2014/main" id="{5CF67CF6-BE7C-4793-8E07-7FADFB38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43813" y="2231231"/>
            <a:ext cx="109538" cy="10953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23" name="flow-patch-replay-line">
            <a:extLst xmlns:a="http://schemas.openxmlformats.org/drawingml/2006/main">
              <a:ext uri="{FF2B5EF4-FFF2-40B4-BE49-F238E27FC236}">
                <a16:creationId xmlns:a16="http://schemas.microsoft.com/office/drawing/2014/main" id="{7D51F399-D227-4359-BC40-40503788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10650" y="2286000"/>
            <a:ext cx="64131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576">
            <a:solidFill>
              <a:srgbClr val="E0863F"/>
            </a:solidFill>
            <a:prstDash val="solid"/>
          </a:ln>
        </p:spPr>
      </p:sp>
      <p:sp>
        <p:nvSpPr>
          <p:cNvPr id="24" name="flow-patch-replay-head">
            <a:extLst xmlns:a="http://schemas.openxmlformats.org/drawingml/2006/main">
              <a:ext uri="{FF2B5EF4-FFF2-40B4-BE49-F238E27FC236}">
                <a16:creationId xmlns:a16="http://schemas.microsoft.com/office/drawing/2014/main" id="{6A191AE9-09A6-41BB-B6A3-C0AE560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05963" y="2231231"/>
            <a:ext cx="109538" cy="10953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25" name="flow-replay-reduction-line-in">
            <a:extLst xmlns:a="http://schemas.openxmlformats.org/drawingml/2006/main">
              <a:ext uri="{FF2B5EF4-FFF2-40B4-BE49-F238E27FC236}">
                <a16:creationId xmlns:a16="http://schemas.microsoft.com/office/drawing/2014/main" id="{579F1BEF-16CE-49C4-BDC3-78863009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220700" y="2286000"/>
            <a:ext cx="30956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576">
            <a:solidFill>
              <a:srgbClr val="E0863F"/>
            </a:solidFill>
            <a:prstDash val="solid"/>
          </a:ln>
        </p:spPr>
      </p:sp>
      <p:sp>
        <p:nvSpPr>
          <p:cNvPr id="26" name="flow-replay-reduction-head">
            <a:extLst xmlns:a="http://schemas.openxmlformats.org/drawingml/2006/main">
              <a:ext uri="{FF2B5EF4-FFF2-40B4-BE49-F238E27FC236}">
                <a16:creationId xmlns:a16="http://schemas.microsoft.com/office/drawing/2014/main" id="{4339AE88-37A0-4613-A8FF-531E7939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530263" y="2231231"/>
            <a:ext cx="109538" cy="10953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27" name="flow-agent-proxy-line">
            <a:extLst xmlns:a="http://schemas.openxmlformats.org/drawingml/2006/main">
              <a:ext uri="{FF2B5EF4-FFF2-40B4-BE49-F238E27FC236}">
                <a16:creationId xmlns:a16="http://schemas.microsoft.com/office/drawing/2014/main" id="{339DE22B-5847-48D1-A3CD-05945A3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05200" y="2724150"/>
            <a:ext cx="953" cy="1721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765">
            <a:solidFill>
              <a:srgbClr val="E0863F"/>
            </a:solidFill>
            <a:prstDash val="solid"/>
          </a:ln>
        </p:spPr>
      </p:sp>
      <p:sp>
        <p:nvSpPr>
          <p:cNvPr id="28" name="flow-agent-proxy-head">
            <a:extLst xmlns:a="http://schemas.openxmlformats.org/drawingml/2006/main">
              <a:ext uri="{FF2B5EF4-FFF2-40B4-BE49-F238E27FC236}">
                <a16:creationId xmlns:a16="http://schemas.microsoft.com/office/drawing/2014/main" id="{D2BFCE50-A73E-41B1-B302-CBC4F8A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464719" y="2862263"/>
            <a:ext cx="80963" cy="8096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29" name="flow-proxy-agent-line">
            <a:extLst xmlns:a="http://schemas.openxmlformats.org/drawingml/2006/main">
              <a:ext uri="{FF2B5EF4-FFF2-40B4-BE49-F238E27FC236}">
                <a16:creationId xmlns:a16="http://schemas.microsoft.com/office/drawing/2014/main" id="{3842229E-C6D0-4FD3-BC09-10D021B7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2771108"/>
            <a:ext cx="953" cy="1721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765">
            <a:solidFill>
              <a:srgbClr val="E0863F"/>
            </a:solidFill>
            <a:prstDash val="solid"/>
          </a:ln>
        </p:spPr>
      </p:sp>
      <p:sp>
        <p:nvSpPr>
          <p:cNvPr id="30" name="flow-proxy-agent-head">
            <a:extLst xmlns:a="http://schemas.openxmlformats.org/drawingml/2006/main">
              <a:ext uri="{FF2B5EF4-FFF2-40B4-BE49-F238E27FC236}">
                <a16:creationId xmlns:a16="http://schemas.microsoft.com/office/drawing/2014/main" id="{0F98FBD2-261D-47B2-A561-915EA73C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4119" y="2724150"/>
            <a:ext cx="80963" cy="8096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31" name="step-1-2-line">
            <a:extLst xmlns:a="http://schemas.openxmlformats.org/drawingml/2006/main">
              <a:ext uri="{FF2B5EF4-FFF2-40B4-BE49-F238E27FC236}">
                <a16:creationId xmlns:a16="http://schemas.microsoft.com/office/drawing/2014/main" id="{7766EFE7-AB89-4ED2-A687-29B6F26F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453688" y="2286000"/>
            <a:ext cx="4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241">
            <a:solidFill>
              <a:srgbClr val="E0863F"/>
            </a:solidFill>
            <a:prstDash val="solid"/>
          </a:ln>
        </p:spPr>
      </p:sp>
      <p:sp>
        <p:nvSpPr>
          <p:cNvPr id="32" name="step-1-2-head">
            <a:extLst xmlns:a="http://schemas.openxmlformats.org/drawingml/2006/main">
              <a:ext uri="{FF2B5EF4-FFF2-40B4-BE49-F238E27FC236}">
                <a16:creationId xmlns:a16="http://schemas.microsoft.com/office/drawing/2014/main" id="{3C128994-90A5-427A-92C2-5276021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491788" y="2250281"/>
            <a:ext cx="71438" cy="7143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33" name="step-2-3-line">
            <a:extLst xmlns:a="http://schemas.openxmlformats.org/drawingml/2006/main">
              <a:ext uri="{FF2B5EF4-FFF2-40B4-BE49-F238E27FC236}">
                <a16:creationId xmlns:a16="http://schemas.microsoft.com/office/drawing/2014/main" id="{2DA1FA47-5FC2-4A14-B656-0D4CAC06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29988" y="2286000"/>
            <a:ext cx="4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241">
            <a:solidFill>
              <a:srgbClr val="E0863F"/>
            </a:solidFill>
            <a:prstDash val="solid"/>
          </a:ln>
        </p:spPr>
      </p:sp>
      <p:sp>
        <p:nvSpPr>
          <p:cNvPr id="34" name="step-2-3-head">
            <a:extLst xmlns:a="http://schemas.openxmlformats.org/drawingml/2006/main">
              <a:ext uri="{FF2B5EF4-FFF2-40B4-BE49-F238E27FC236}">
                <a16:creationId xmlns:a16="http://schemas.microsoft.com/office/drawing/2014/main" id="{C72AC0D3-580C-4054-BBE9-0752CCFA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68088" y="2250281"/>
            <a:ext cx="71438" cy="7143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35" name="step-3-4-line">
            <a:extLst xmlns:a="http://schemas.openxmlformats.org/drawingml/2006/main">
              <a:ext uri="{FF2B5EF4-FFF2-40B4-BE49-F238E27FC236}">
                <a16:creationId xmlns:a16="http://schemas.microsoft.com/office/drawing/2014/main" id="{0CC4833C-EADE-42E6-A7D6-BF49B748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206288" y="2286000"/>
            <a:ext cx="4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241">
            <a:solidFill>
              <a:srgbClr val="E0863F"/>
            </a:solidFill>
            <a:prstDash val="solid"/>
          </a:ln>
        </p:spPr>
      </p:sp>
      <p:sp>
        <p:nvSpPr>
          <p:cNvPr id="36" name="step-3-4-head">
            <a:extLst xmlns:a="http://schemas.openxmlformats.org/drawingml/2006/main">
              <a:ext uri="{FF2B5EF4-FFF2-40B4-BE49-F238E27FC236}">
                <a16:creationId xmlns:a16="http://schemas.microsoft.com/office/drawing/2014/main" id="{39EAA2FD-30E7-4400-8F7A-7EA853CE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244388" y="2250281"/>
            <a:ext cx="71438" cy="7143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37" name="reduction-to-eval-line">
            <a:extLst xmlns:a="http://schemas.openxmlformats.org/drawingml/2006/main">
              <a:ext uri="{FF2B5EF4-FFF2-40B4-BE49-F238E27FC236}">
                <a16:creationId xmlns:a16="http://schemas.microsoft.com/office/drawing/2014/main" id="{B827367A-3A36-4A24-9156-F6B99B77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68575" y="2390775"/>
            <a:ext cx="953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336">
            <a:solidFill>
              <a:srgbClr val="3E7CB4"/>
            </a:solidFill>
            <a:prstDash val="solid"/>
          </a:ln>
        </p:spPr>
      </p:sp>
      <p:sp>
        <p:nvSpPr>
          <p:cNvPr id="38" name="reduction-to-eval-head">
            <a:extLst xmlns:a="http://schemas.openxmlformats.org/drawingml/2006/main">
              <a:ext uri="{FF2B5EF4-FFF2-40B4-BE49-F238E27FC236}">
                <a16:creationId xmlns:a16="http://schemas.microsoft.com/office/drawing/2014/main" id="{FC1B2C02-F4E1-4991-8632-9BC71FBB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5237619" y="2462213"/>
            <a:ext cx="61913" cy="6191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E7CB4"/>
          </a:solidFill>
          <a:ln xmlns:a="http://schemas.openxmlformats.org/drawingml/2006/main" w="0">
            <a:solidFill>
              <a:srgbClr val="3E7CB4"/>
            </a:solidFill>
            <a:prstDash val="solid"/>
          </a:ln>
        </p:spPr>
      </p:sp>
      <p:sp>
        <p:nvSpPr>
          <p:cNvPr id="39" name="checkpoint-to-score-line">
            <a:extLst xmlns:a="http://schemas.openxmlformats.org/drawingml/2006/main">
              <a:ext uri="{FF2B5EF4-FFF2-40B4-BE49-F238E27FC236}">
                <a16:creationId xmlns:a16="http://schemas.microsoft.com/office/drawing/2014/main" id="{7C6142AF-EAEA-4FFD-90B5-ACDDB216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68575" y="1481138"/>
            <a:ext cx="953" cy="1000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13C"/>
            </a:solidFill>
            <a:prstDash val="solid"/>
          </a:ln>
        </p:spPr>
      </p:sp>
      <p:sp>
        <p:nvSpPr>
          <p:cNvPr id="40" name="checkpoint-to-score-head">
            <a:extLst xmlns:a="http://schemas.openxmlformats.org/drawingml/2006/main">
              <a:ext uri="{FF2B5EF4-FFF2-40B4-BE49-F238E27FC236}">
                <a16:creationId xmlns:a16="http://schemas.microsoft.com/office/drawing/2014/main" id="{F26FBFBE-71F4-4541-A28A-40EF68C7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5237619" y="1566863"/>
            <a:ext cx="61913" cy="6191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26313C"/>
            </a:solidFill>
            <a:prstDash val="solid"/>
          </a:ln>
        </p:spPr>
      </p:sp>
      <p:sp>
        <p:nvSpPr>
          <p:cNvPr id="41" name="visibility-boundary">
            <a:extLst xmlns:a="http://schemas.openxmlformats.org/drawingml/2006/main">
              <a:ext uri="{FF2B5EF4-FFF2-40B4-BE49-F238E27FC236}">
                <a16:creationId xmlns:a16="http://schemas.microsoft.com/office/drawing/2014/main" id="{B56DE89A-E60A-42B8-B628-79ADEA9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82000" y="990600"/>
            <a:ext cx="953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6313C"/>
            </a:solidFill>
            <a:prstDash val="solid"/>
          </a:ln>
        </p:spPr>
      </p:sp>
      <p:sp>
        <p:nvSpPr>
          <p:cNvPr id="42" name="frozen-repository">
            <a:extLst xmlns:a="http://schemas.openxmlformats.org/drawingml/2006/main">
              <a:ext uri="{FF2B5EF4-FFF2-40B4-BE49-F238E27FC236}">
                <a16:creationId xmlns:a16="http://schemas.microsoft.com/office/drawing/2014/main" id="{90DB0FC3-3F8D-43ED-B9F8-1CD6B3AE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33412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125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DiGress repository</a:t>
            </a:r>
          </a:p>
        </p:txBody>
      </p:sp>
      <p:sp>
        <p:nvSpPr>
          <p:cNvPr id="43" name="frozen-commit">
            <a:extLst xmlns:a="http://schemas.openxmlformats.org/drawingml/2006/main">
              <a:ext uri="{FF2B5EF4-FFF2-40B4-BE49-F238E27FC236}">
                <a16:creationId xmlns:a16="http://schemas.microsoft.com/office/drawing/2014/main" id="{B4AF2295-B65D-43D9-9EAD-474E9962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048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>
                <a:solidFill>
                  <a:srgbClr val="6B7280"/>
                </a:solidFill>
                <a:latin typeface="Arial"/>
                <a:ea typeface="Arial"/>
                <a:cs typeface="Arial"/>
              </a:rPr>
              <a:t>pinned commit</a:t>
            </a:r>
          </a:p>
        </p:txBody>
      </p:sp>
      <p:sp>
        <p:nvSpPr>
          <p:cNvPr id="44" name="frozen-digest">
            <a:extLst xmlns:a="http://schemas.openxmlformats.org/drawingml/2006/main">
              <a:ext uri="{FF2B5EF4-FFF2-40B4-BE49-F238E27FC236}">
                <a16:creationId xmlns:a16="http://schemas.microsoft.com/office/drawing/2014/main" id="{70CF56C7-7B34-4612-B552-0D91DF3F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123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>
                <a:solidFill>
                  <a:srgbClr val="6B7280"/>
                </a:solidFill>
                <a:latin typeface="Arial"/>
                <a:ea typeface="Arial"/>
                <a:cs typeface="Arial"/>
              </a:rPr>
              <a:t>frozen image digest</a:t>
            </a:r>
          </a:p>
        </p:txBody>
      </p:sp>
      <p:sp>
        <p:nvSpPr>
          <p:cNvPr id="45" name="frozen-task">
            <a:extLst xmlns:a="http://schemas.openxmlformats.org/drawingml/2006/main">
              <a:ext uri="{FF2B5EF4-FFF2-40B4-BE49-F238E27FC236}">
                <a16:creationId xmlns:a16="http://schemas.microsoft.com/office/drawing/2014/main" id="{D73DCBC5-DD0F-42D1-8ADA-8443FDD6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776412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125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QM9 graph diffusion</a:t>
            </a:r>
          </a:p>
        </p:txBody>
      </p:sp>
      <p:sp>
        <p:nvSpPr>
          <p:cNvPr id="46" name="molecule-bond-1">
            <a:extLst xmlns:a="http://schemas.openxmlformats.org/drawingml/2006/main">
              <a:ext uri="{FF2B5EF4-FFF2-40B4-BE49-F238E27FC236}">
                <a16:creationId xmlns:a16="http://schemas.microsoft.com/office/drawing/2014/main" id="{76754BDA-A6AE-4800-A8C4-702EE487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3900" y="2686050"/>
            <a:ext cx="38100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47" name="molecule-bond-2">
            <a:extLst xmlns:a="http://schemas.openxmlformats.org/drawingml/2006/main">
              <a:ext uri="{FF2B5EF4-FFF2-40B4-BE49-F238E27FC236}">
                <a16:creationId xmlns:a16="http://schemas.microsoft.com/office/drawing/2014/main" id="{750657D7-38EC-43E6-9CA2-D6D1416B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04900" y="2686050"/>
            <a:ext cx="4000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48" name="molecule-bond-3">
            <a:extLst xmlns:a="http://schemas.openxmlformats.org/drawingml/2006/main">
              <a:ext uri="{FF2B5EF4-FFF2-40B4-BE49-F238E27FC236}">
                <a16:creationId xmlns:a16="http://schemas.microsoft.com/office/drawing/2014/main" id="{D3E238C0-9D7F-49A8-B68E-964ABE1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66850" y="2914650"/>
            <a:ext cx="3810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49" name="molecule-bond-4">
            <a:extLst xmlns:a="http://schemas.openxmlformats.org/drawingml/2006/main">
              <a:ext uri="{FF2B5EF4-FFF2-40B4-BE49-F238E27FC236}">
                <a16:creationId xmlns:a16="http://schemas.microsoft.com/office/drawing/2014/main" id="{8CA54C30-8C6B-4100-AD72-C72FE542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6800" y="3352800"/>
            <a:ext cx="4000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50" name="molecule-bond-5">
            <a:extLst xmlns:a="http://schemas.openxmlformats.org/drawingml/2006/main">
              <a:ext uri="{FF2B5EF4-FFF2-40B4-BE49-F238E27FC236}">
                <a16:creationId xmlns:a16="http://schemas.microsoft.com/office/drawing/2014/main" id="{E76ECD7C-1BF0-4E00-8BAA-64EB5C07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3333750"/>
            <a:ext cx="4000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51" name="molecule-bond-6">
            <a:extLst xmlns:a="http://schemas.openxmlformats.org/drawingml/2006/main">
              <a:ext uri="{FF2B5EF4-FFF2-40B4-BE49-F238E27FC236}">
                <a16:creationId xmlns:a16="http://schemas.microsoft.com/office/drawing/2014/main" id="{E66EDCAA-7481-4FB7-AFD4-2A5226D0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6750" y="2914650"/>
            <a:ext cx="5715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52" name="molecule-bond-7">
            <a:extLst xmlns:a="http://schemas.openxmlformats.org/drawingml/2006/main">
              <a:ext uri="{FF2B5EF4-FFF2-40B4-BE49-F238E27FC236}">
                <a16:creationId xmlns:a16="http://schemas.microsoft.com/office/drawing/2014/main" id="{5D8F51A1-C509-4D75-95DE-47DAA280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3850" y="27051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53" name="molecule-bond-8">
            <a:extLst xmlns:a="http://schemas.openxmlformats.org/drawingml/2006/main">
              <a:ext uri="{FF2B5EF4-FFF2-40B4-BE49-F238E27FC236}">
                <a16:creationId xmlns:a16="http://schemas.microsoft.com/office/drawing/2014/main" id="{DD8B5DAD-5D2B-463E-AAC5-DD5272F3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4800" y="3333750"/>
            <a:ext cx="3619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54" name="molecule-bond-9">
            <a:extLst xmlns:a="http://schemas.openxmlformats.org/drawingml/2006/main">
              <a:ext uri="{FF2B5EF4-FFF2-40B4-BE49-F238E27FC236}">
                <a16:creationId xmlns:a16="http://schemas.microsoft.com/office/drawing/2014/main" id="{48CF4ABB-FCE2-4AB6-ABB5-7EAADBD9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85850" y="2686050"/>
            <a:ext cx="1905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55" name="molecule-bond-10">
            <a:extLst xmlns:a="http://schemas.openxmlformats.org/drawingml/2006/main">
              <a:ext uri="{FF2B5EF4-FFF2-40B4-BE49-F238E27FC236}">
                <a16:creationId xmlns:a16="http://schemas.microsoft.com/office/drawing/2014/main" id="{EED7887E-4AA6-452C-8CF5-4C7945A0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04950" y="2647950"/>
            <a:ext cx="4381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56" name="molecule-bond-11">
            <a:extLst xmlns:a="http://schemas.openxmlformats.org/drawingml/2006/main">
              <a:ext uri="{FF2B5EF4-FFF2-40B4-BE49-F238E27FC236}">
                <a16:creationId xmlns:a16="http://schemas.microsoft.com/office/drawing/2014/main" id="{1750ACCF-6A02-4C9E-A119-D40A1595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66850" y="3352800"/>
            <a:ext cx="45720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57" name="molecule-bond-12">
            <a:extLst xmlns:a="http://schemas.openxmlformats.org/drawingml/2006/main">
              <a:ext uri="{FF2B5EF4-FFF2-40B4-BE49-F238E27FC236}">
                <a16:creationId xmlns:a16="http://schemas.microsoft.com/office/drawing/2014/main" id="{4FB93EEC-7A97-4E98-8F5E-F339A30E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6800" y="3133725"/>
            <a:ext cx="1905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D6"/>
            </a:solidFill>
            <a:prstDash val="solid"/>
          </a:ln>
        </p:spPr>
      </p:sp>
      <p:sp>
        <p:nvSpPr>
          <p:cNvPr id="58" name="molecule-node-1">
            <a:extLst xmlns:a="http://schemas.openxmlformats.org/drawingml/2006/main">
              <a:ext uri="{FF2B5EF4-FFF2-40B4-BE49-F238E27FC236}">
                <a16:creationId xmlns:a16="http://schemas.microsoft.com/office/drawing/2014/main" id="{400A0A2B-6FEB-4364-BB06-011A8231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9" name="molecule-node-2">
            <a:extLst xmlns:a="http://schemas.openxmlformats.org/drawingml/2006/main">
              <a:ext uri="{FF2B5EF4-FFF2-40B4-BE49-F238E27FC236}">
                <a16:creationId xmlns:a16="http://schemas.microsoft.com/office/drawing/2014/main" id="{6D168A24-61E1-4276-9AE9-81F251FF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1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B2D6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0" name="molecule-node-3">
            <a:extLst xmlns:a="http://schemas.openxmlformats.org/drawingml/2006/main">
              <a:ext uri="{FF2B5EF4-FFF2-40B4-BE49-F238E27FC236}">
                <a16:creationId xmlns:a16="http://schemas.microsoft.com/office/drawing/2014/main" id="{2D2010BA-1712-45C7-A2B1-7683F224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09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1" name="molecule-node-4">
            <a:extLst xmlns:a="http://schemas.openxmlformats.org/drawingml/2006/main">
              <a:ext uri="{FF2B5EF4-FFF2-40B4-BE49-F238E27FC236}">
                <a16:creationId xmlns:a16="http://schemas.microsoft.com/office/drawing/2014/main" id="{574D82F5-0B39-4F4A-A82E-0907155D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48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2" name="molecule-node-5">
            <a:extLst xmlns:a="http://schemas.openxmlformats.org/drawingml/2006/main">
              <a:ext uri="{FF2B5EF4-FFF2-40B4-BE49-F238E27FC236}">
                <a16:creationId xmlns:a16="http://schemas.microsoft.com/office/drawing/2014/main" id="{DF1276D5-CD5C-4E55-94FB-774CD27F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B2D6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3" name="molecule-node-6">
            <a:extLst xmlns:a="http://schemas.openxmlformats.org/drawingml/2006/main">
              <a:ext uri="{FF2B5EF4-FFF2-40B4-BE49-F238E27FC236}">
                <a16:creationId xmlns:a16="http://schemas.microsoft.com/office/drawing/2014/main" id="{B6119D81-76C4-4814-A4EE-5A9DFB41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4" name="molecule-node-7">
            <a:extLst xmlns:a="http://schemas.openxmlformats.org/drawingml/2006/main">
              <a:ext uri="{FF2B5EF4-FFF2-40B4-BE49-F238E27FC236}">
                <a16:creationId xmlns:a16="http://schemas.microsoft.com/office/drawing/2014/main" id="{065BEE4F-88DD-48D5-84C9-2EA1E0F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8" y="2624138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313C"/>
            </a:solidFill>
            <a:prstDash val="solid"/>
          </a:ln>
        </p:spPr>
      </p:sp>
      <p:sp>
        <p:nvSpPr>
          <p:cNvPr id="65" name="molecule-node-8">
            <a:extLst xmlns:a="http://schemas.openxmlformats.org/drawingml/2006/main">
              <a:ext uri="{FF2B5EF4-FFF2-40B4-BE49-F238E27FC236}">
                <a16:creationId xmlns:a16="http://schemas.microsoft.com/office/drawing/2014/main" id="{FE5AAAAE-52CB-40FC-A641-0F0D893D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8" y="3557588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313C"/>
            </a:solidFill>
            <a:prstDash val="solid"/>
          </a:ln>
        </p:spPr>
      </p:sp>
      <p:sp>
        <p:nvSpPr>
          <p:cNvPr id="66" name="molecule-node-9">
            <a:extLst xmlns:a="http://schemas.openxmlformats.org/drawingml/2006/main">
              <a:ext uri="{FF2B5EF4-FFF2-40B4-BE49-F238E27FC236}">
                <a16:creationId xmlns:a16="http://schemas.microsoft.com/office/drawing/2014/main" id="{8CEF6530-02D8-4855-893B-50468D7D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3" y="3043238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9AA6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7" name="molecule-node-10">
            <a:extLst xmlns:a="http://schemas.openxmlformats.org/drawingml/2006/main">
              <a:ext uri="{FF2B5EF4-FFF2-40B4-BE49-F238E27FC236}">
                <a16:creationId xmlns:a16="http://schemas.microsoft.com/office/drawing/2014/main" id="{BCA473D5-07B9-41CB-A0B2-5A119A47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2557463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863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8" name="molecule-node-11">
            <a:extLst xmlns:a="http://schemas.openxmlformats.org/drawingml/2006/main">
              <a:ext uri="{FF2B5EF4-FFF2-40B4-BE49-F238E27FC236}">
                <a16:creationId xmlns:a16="http://schemas.microsoft.com/office/drawing/2014/main" id="{C8B1EB29-1C6F-4400-9426-724B3AB2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88" y="3614738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313C"/>
            </a:solidFill>
            <a:prstDash val="solid"/>
          </a:ln>
        </p:spPr>
      </p:sp>
      <p:sp>
        <p:nvSpPr>
          <p:cNvPr id="69" name="start-lane-surface">
            <a:extLst xmlns:a="http://schemas.openxmlformats.org/drawingml/2006/main">
              <a:ext uri="{FF2B5EF4-FFF2-40B4-BE49-F238E27FC236}">
                <a16:creationId xmlns:a16="http://schemas.microsoft.com/office/drawing/2014/main" id="{363B3E32-1658-4B3E-BAC6-0EE51722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6250"/>
            <a:ext cx="4381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5240">
            <a:solidFill>
              <a:srgbClr val="DCE0E5"/>
            </a:solidFill>
            <a:prstDash val="solid"/>
          </a:ln>
        </p:spPr>
      </p:sp>
      <p:sp>
        <p:nvSpPr>
          <p:cNvPr id="70" name="start-lane-pill-surface">
            <a:extLst xmlns:a="http://schemas.openxmlformats.org/drawingml/2006/main">
              <a:ext uri="{FF2B5EF4-FFF2-40B4-BE49-F238E27FC236}">
                <a16:creationId xmlns:a16="http://schemas.microsoft.com/office/drawing/2014/main" id="{51B1EEDA-AD58-41C8-993C-2875A96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4350"/>
            <a:ext cx="1123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E7CB4"/>
          </a:solidFill>
          <a:ln xmlns:a="http://schemas.openxmlformats.org/drawingml/2006/main" w="0">
            <a:solidFill>
              <a:srgbClr val="3E7CB4"/>
            </a:solidFill>
            <a:prstDash val="solid"/>
          </a:ln>
        </p:spPr>
      </p:sp>
      <p:sp>
        <p:nvSpPr>
          <p:cNvPr id="71" name="start-lane-pill-label">
            <a:extLst xmlns:a="http://schemas.openxmlformats.org/drawingml/2006/main">
              <a:ext uri="{FF2B5EF4-FFF2-40B4-BE49-F238E27FC236}">
                <a16:creationId xmlns:a16="http://schemas.microsoft.com/office/drawing/2014/main" id="{38CDBF9A-36FA-445A-B65E-CCDC3D3C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· b</a:t>
            </a:r>
          </a:p>
        </p:txBody>
      </p:sp>
      <p:sp>
        <p:nvSpPr>
          <p:cNvPr id="72" name="start-lane-title">
            <a:extLst xmlns:a="http://schemas.openxmlformats.org/drawingml/2006/main">
              <a:ext uri="{FF2B5EF4-FFF2-40B4-BE49-F238E27FC236}">
                <a16:creationId xmlns:a16="http://schemas.microsoft.com/office/drawing/2014/main" id="{00C254C5-EF98-491C-A6DE-3852A048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8637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88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starting checkpoint</a:t>
            </a:r>
          </a:p>
        </p:txBody>
      </p:sp>
      <p:sp>
        <p:nvSpPr>
          <p:cNvPr id="73" name="start-detail">
            <a:extLst xmlns:a="http://schemas.openxmlformats.org/drawingml/2006/main">
              <a:ext uri="{FF2B5EF4-FFF2-40B4-BE49-F238E27FC236}">
                <a16:creationId xmlns:a16="http://schemas.microsoft.com/office/drawing/2014/main" id="{82C2D756-6F27-4685-B14E-B13717BE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762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>
                <a:solidFill>
                  <a:srgbClr val="6B7280"/>
                </a:solidFill>
                <a:latin typeface="Arial"/>
                <a:ea typeface="Arial"/>
                <a:cs typeface="Arial"/>
              </a:rPr>
              <a:t>QM9 pretrained  ·  score as delivered</a:t>
            </a:r>
          </a:p>
        </p:txBody>
      </p:sp>
      <p:sp>
        <p:nvSpPr>
          <p:cNvPr id="74" name="recipe-lane-surface">
            <a:extLst xmlns:a="http://schemas.openxmlformats.org/drawingml/2006/main">
              <a:ext uri="{FF2B5EF4-FFF2-40B4-BE49-F238E27FC236}">
                <a16:creationId xmlns:a16="http://schemas.microsoft.com/office/drawing/2014/main" id="{C89FDB37-A8E1-4F43-8ABC-7BE67FC6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019175"/>
            <a:ext cx="43815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AF3F1"/>
          </a:solidFill>
          <a:ln xmlns:a="http://schemas.openxmlformats.org/drawingml/2006/main" w="15240">
            <a:solidFill>
              <a:srgbClr val="AED0D5"/>
            </a:solidFill>
            <a:prstDash val="solid"/>
          </a:ln>
        </p:spPr>
      </p:sp>
      <p:sp>
        <p:nvSpPr>
          <p:cNvPr id="75" name="recipe-lane-pill-surface">
            <a:extLst xmlns:a="http://schemas.openxmlformats.org/drawingml/2006/main">
              <a:ext uri="{FF2B5EF4-FFF2-40B4-BE49-F238E27FC236}">
                <a16:creationId xmlns:a16="http://schemas.microsoft.com/office/drawing/2014/main" id="{FD0AF230-90D4-4729-89EA-48229519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57275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E9AA6"/>
          </a:solidFill>
          <a:ln xmlns:a="http://schemas.openxmlformats.org/drawingml/2006/main" w="0">
            <a:solidFill>
              <a:srgbClr val="4E9AA6"/>
            </a:solidFill>
            <a:prstDash val="solid"/>
          </a:ln>
        </p:spPr>
      </p:sp>
      <p:sp>
        <p:nvSpPr>
          <p:cNvPr id="76" name="recipe-lane-pill-label">
            <a:extLst xmlns:a="http://schemas.openxmlformats.org/drawingml/2006/main">
              <a:ext uri="{FF2B5EF4-FFF2-40B4-BE49-F238E27FC236}">
                <a16:creationId xmlns:a16="http://schemas.microsoft.com/office/drawing/2014/main" id="{8D0C7979-5E84-447A-9866-12D5FA5F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763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RECIPE</a:t>
            </a:r>
          </a:p>
        </p:txBody>
      </p:sp>
      <p:sp>
        <p:nvSpPr>
          <p:cNvPr id="77" name="recipe-lane-title">
            <a:extLst xmlns:a="http://schemas.openxmlformats.org/drawingml/2006/main">
              <a:ext uri="{FF2B5EF4-FFF2-40B4-BE49-F238E27FC236}">
                <a16:creationId xmlns:a16="http://schemas.microsoft.com/office/drawing/2014/main" id="{C66C458C-4AF5-4968-9741-8F638CAA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071563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88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same committed configuration</a:t>
            </a:r>
          </a:p>
        </p:txBody>
      </p:sp>
      <p:sp>
        <p:nvSpPr>
          <p:cNvPr id="78" name="recipe-short">
            <a:extLst xmlns:a="http://schemas.openxmlformats.org/drawingml/2006/main">
              <a:ext uri="{FF2B5EF4-FFF2-40B4-BE49-F238E27FC236}">
                <a16:creationId xmlns:a16="http://schemas.microsoft.com/office/drawing/2014/main" id="{9C2D9FFE-9D0F-4DEE-ACDC-6FB9C332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04937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75" b="1">
                <a:solidFill>
                  <a:srgbClr val="4E9AA6"/>
                </a:solidFill>
                <a:latin typeface="Arial"/>
                <a:ea typeface="Arial"/>
                <a:cs typeface="Arial"/>
              </a:rPr>
              <a:t>shipped recipe · r short</a:t>
            </a:r>
          </a:p>
        </p:txBody>
      </p:sp>
      <p:sp>
        <p:nvSpPr>
          <p:cNvPr id="79" name="recipe-short-detail">
            <a:extLst xmlns:a="http://schemas.openxmlformats.org/drawingml/2006/main">
              <a:ext uri="{FF2B5EF4-FFF2-40B4-BE49-F238E27FC236}">
                <a16:creationId xmlns:a16="http://schemas.microsoft.com/office/drawing/2014/main" id="{3C835401-8186-4F8E-BA32-E2C1D96D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287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committed steps · headline reference</a:t>
            </a:r>
          </a:p>
        </p:txBody>
      </p:sp>
      <p:sp>
        <p:nvSpPr>
          <p:cNvPr id="80" name="recipe-long">
            <a:extLst xmlns:a="http://schemas.openxmlformats.org/drawingml/2006/main">
              <a:ext uri="{FF2B5EF4-FFF2-40B4-BE49-F238E27FC236}">
                <a16:creationId xmlns:a16="http://schemas.microsoft.com/office/drawing/2014/main" id="{A6E8FD2A-F144-4318-BCDB-F4D68E74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04937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75" b="1">
                <a:solidFill>
                  <a:srgbClr val="4E9AA6"/>
                </a:solidFill>
                <a:latin typeface="Arial"/>
                <a:ea typeface="Arial"/>
                <a:cs typeface="Arial"/>
              </a:rPr>
              <a:t>budget-matched replay · r long</a:t>
            </a:r>
          </a:p>
        </p:txBody>
      </p:sp>
      <p:sp>
        <p:nvSpPr>
          <p:cNvPr id="81" name="recipe-long-detail">
            <a:extLst xmlns:a="http://schemas.openxmlformats.org/drawingml/2006/main">
              <a:ext uri="{FF2B5EF4-FFF2-40B4-BE49-F238E27FC236}">
                <a16:creationId xmlns:a16="http://schemas.microsoft.com/office/drawing/2014/main" id="{6E3F0ABE-1191-4FF8-A4A2-F18BB40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28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12 h horizon · analysis control</a:t>
            </a:r>
          </a:p>
        </p:txBody>
      </p:sp>
      <p:sp>
        <p:nvSpPr>
          <p:cNvPr id="82" name="agent-lane-surface">
            <a:extLst xmlns:a="http://schemas.openxmlformats.org/drawingml/2006/main">
              <a:ext uri="{FF2B5EF4-FFF2-40B4-BE49-F238E27FC236}">
                <a16:creationId xmlns:a16="http://schemas.microsoft.com/office/drawing/2014/main" id="{69EEB86D-1FAA-4676-8B1C-0B6C3172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33575"/>
            <a:ext cx="43815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5240">
            <a:solidFill>
              <a:srgbClr val="E0863F"/>
            </a:solidFill>
            <a:prstDash val="solid"/>
          </a:ln>
        </p:spPr>
      </p:sp>
      <p:sp>
        <p:nvSpPr>
          <p:cNvPr id="83" name="agent-lane-pill-surface">
            <a:extLst xmlns:a="http://schemas.openxmlformats.org/drawingml/2006/main">
              <a:ext uri="{FF2B5EF4-FFF2-40B4-BE49-F238E27FC236}">
                <a16:creationId xmlns:a16="http://schemas.microsoft.com/office/drawing/2014/main" id="{831051AA-CF69-42B7-BEC9-7F294976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71675"/>
            <a:ext cx="971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84" name="agent-lane-pill-label">
            <a:extLst xmlns:a="http://schemas.openxmlformats.org/drawingml/2006/main">
              <a:ext uri="{FF2B5EF4-FFF2-40B4-BE49-F238E27FC236}">
                <a16:creationId xmlns:a16="http://schemas.microsoft.com/office/drawing/2014/main" id="{34B7677A-E9F3-4E65-90B9-7EEA83E9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85" name="agent-lane-title">
            <a:extLst xmlns:a="http://schemas.openxmlformats.org/drawingml/2006/main">
              <a:ext uri="{FF2B5EF4-FFF2-40B4-BE49-F238E27FC236}">
                <a16:creationId xmlns:a16="http://schemas.microsoft.com/office/drawing/2014/main" id="{DFA0BEE7-CF30-45F4-92C4-36711C23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85963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88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improve the training recipe</a:t>
            </a:r>
          </a:p>
        </p:txBody>
      </p:sp>
      <p:sp>
        <p:nvSpPr>
          <p:cNvPr id="86" name="agent-budget">
            <a:extLst xmlns:a="http://schemas.openxmlformats.org/drawingml/2006/main">
              <a:ext uri="{FF2B5EF4-FFF2-40B4-BE49-F238E27FC236}">
                <a16:creationId xmlns:a16="http://schemas.microsoft.com/office/drawing/2014/main" id="{4C62DBEC-7127-4D45-89B5-1739F282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52663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13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4 h  ·  1 GPU</a:t>
            </a:r>
          </a:p>
        </p:txBody>
      </p:sp>
      <p:sp>
        <p:nvSpPr>
          <p:cNvPr id="87" name="agent-actions">
            <a:extLst xmlns:a="http://schemas.openxmlformats.org/drawingml/2006/main">
              <a:ext uri="{FF2B5EF4-FFF2-40B4-BE49-F238E27FC236}">
                <a16:creationId xmlns:a16="http://schemas.microsoft.com/office/drawing/2014/main" id="{E1AE7BE7-C0FD-4AAD-B38D-7AC7F906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476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read · edit · train · measure</a:t>
            </a:r>
          </a:p>
        </p:txBody>
      </p:sp>
      <p:sp>
        <p:nvSpPr>
          <p:cNvPr id="88" name="proxy-surface">
            <a:extLst xmlns:a="http://schemas.openxmlformats.org/drawingml/2006/main">
              <a:ext uri="{FF2B5EF4-FFF2-40B4-BE49-F238E27FC236}">
                <a16:creationId xmlns:a16="http://schemas.microsoft.com/office/drawing/2014/main" id="{4FE46E70-3D79-4639-AD0D-3D5AB9D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81325"/>
            <a:ext cx="3657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0863F"/>
            </a:solidFill>
            <a:prstDash val="solid"/>
          </a:ln>
        </p:spPr>
      </p:sp>
      <p:sp>
        <p:nvSpPr>
          <p:cNvPr id="89" name="proxy-pill-surface">
            <a:extLst xmlns:a="http://schemas.openxmlformats.org/drawingml/2006/main">
              <a:ext uri="{FF2B5EF4-FFF2-40B4-BE49-F238E27FC236}">
                <a16:creationId xmlns:a16="http://schemas.microsoft.com/office/drawing/2014/main" id="{551A6B01-A227-4709-8619-857C1E95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1543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0863F"/>
          </a:solidFill>
          <a:ln xmlns:a="http://schemas.openxmlformats.org/drawingml/2006/main" w="0">
            <a:solidFill>
              <a:srgbClr val="E0863F"/>
            </a:solidFill>
            <a:prstDash val="solid"/>
          </a:ln>
        </p:spPr>
      </p:sp>
      <p:sp>
        <p:nvSpPr>
          <p:cNvPr id="90" name="proxy-pill-label">
            <a:extLst xmlns:a="http://schemas.openxmlformats.org/drawingml/2006/main">
              <a:ext uri="{FF2B5EF4-FFF2-40B4-BE49-F238E27FC236}">
                <a16:creationId xmlns:a16="http://schemas.microsoft.com/office/drawing/2014/main" id="{2F1F0DD0-63B3-4E08-A7FB-E8F387E2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956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 PROXY</a:t>
            </a:r>
          </a:p>
        </p:txBody>
      </p:sp>
      <p:sp>
        <p:nvSpPr>
          <p:cNvPr id="91" name="proxy-metric">
            <a:extLst xmlns:a="http://schemas.openxmlformats.org/drawingml/2006/main">
              <a:ext uri="{FF2B5EF4-FFF2-40B4-BE49-F238E27FC236}">
                <a16:creationId xmlns:a16="http://schemas.microsoft.com/office/drawing/2014/main" id="{E7D49A67-1936-4CD9-923B-E8C46E2B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7563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13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validation NLL ↓</a:t>
            </a:r>
          </a:p>
        </p:txBody>
      </p:sp>
      <p:sp>
        <p:nvSpPr>
          <p:cNvPr id="92" name="proxy-access">
            <a:extLst xmlns:a="http://schemas.openxmlformats.org/drawingml/2006/main">
              <a:ext uri="{FF2B5EF4-FFF2-40B4-BE49-F238E27FC236}">
                <a16:creationId xmlns:a16="http://schemas.microsoft.com/office/drawing/2014/main" id="{A8761905-199B-479D-9382-48C9867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909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public during exploration · queryable without limit</a:t>
            </a:r>
          </a:p>
        </p:txBody>
      </p:sp>
      <p:sp>
        <p:nvSpPr>
          <p:cNvPr id="93" name="proxy-run-label">
            <a:extLst xmlns:a="http://schemas.openxmlformats.org/drawingml/2006/main">
              <a:ext uri="{FF2B5EF4-FFF2-40B4-BE49-F238E27FC236}">
                <a16:creationId xmlns:a16="http://schemas.microsoft.com/office/drawing/2014/main" id="{415E1060-691F-4745-AE34-A3321CA0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747962"/>
            <a:ext cx="1285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l">
              <a:lnSpc>
                <a:spcPct val="92000"/>
              </a:lnSpc>
              <a:buNone/>
            </a:pPr>
            <a:r>
              <a:rPr sz="90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run proxy evaluation</a:t>
            </a:r>
          </a:p>
        </p:txBody>
      </p:sp>
      <p:sp>
        <p:nvSpPr>
          <p:cNvPr id="94" name="proxy-feedback-label">
            <a:extLst xmlns:a="http://schemas.openxmlformats.org/drawingml/2006/main">
              <a:ext uri="{FF2B5EF4-FFF2-40B4-BE49-F238E27FC236}">
                <a16:creationId xmlns:a16="http://schemas.microsoft.com/office/drawing/2014/main" id="{CC41DD47-0C99-44BC-B939-A82426B5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47963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r">
              <a:lnSpc>
                <a:spcPct val="92000"/>
              </a:lnSpc>
              <a:buNone/>
            </a:pPr>
            <a:r>
              <a:rPr sz="90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validation NLL feedback</a:t>
            </a:r>
          </a:p>
        </p:txBody>
      </p:sp>
      <p:sp>
        <p:nvSpPr>
          <p:cNvPr id="95" name="shared-contract">
            <a:extLst xmlns:a="http://schemas.openxmlformats.org/drawingml/2006/main">
              <a:ext uri="{FF2B5EF4-FFF2-40B4-BE49-F238E27FC236}">
                <a16:creationId xmlns:a16="http://schemas.microsoft.com/office/drawing/2014/main" id="{3469762C-F5EF-4F60-9F85-5C5E2C74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86226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same pinned commit  ·  same task  ·  same evaluator</a:t>
            </a:r>
          </a:p>
        </p:txBody>
      </p:sp>
      <p:sp>
        <p:nvSpPr>
          <p:cNvPr id="96" name="visibility-label">
            <a:extLst xmlns:a="http://schemas.openxmlformats.org/drawingml/2006/main">
              <a:ext uri="{FF2B5EF4-FFF2-40B4-BE49-F238E27FC236}">
                <a16:creationId xmlns:a16="http://schemas.microsoft.com/office/drawing/2014/main" id="{A608F38F-9336-4C27-97F2-A851BAED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5357"/>
            <a:ext cx="1809750" cy="193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88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visibility boundary</a:t>
            </a:r>
          </a:p>
        </p:txBody>
      </p:sp>
      <p:sp>
        <p:nvSpPr>
          <p:cNvPr id="97" name="source-patch-body">
            <a:extLst xmlns:a="http://schemas.openxmlformats.org/drawingml/2006/main">
              <a:ext uri="{FF2B5EF4-FFF2-40B4-BE49-F238E27FC236}">
                <a16:creationId xmlns:a16="http://schemas.microsoft.com/office/drawing/2014/main" id="{26E03FDF-6AA2-4214-8272-C40525F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19250"/>
            <a:ext cx="1219200" cy="1333500"/>
          </a:xfrm>
          <a:custGeom xmlns:a="http://schemas.openxmlformats.org/drawingml/2006/main">
            <a:pathLst>
              <a:path w="1219200" h="1333500">
                <a:moveTo>
                  <a:pt x="0" y="0"/>
                </a:moveTo>
                <a:lnTo>
                  <a:pt x="853440" y="0"/>
                </a:lnTo>
                <a:lnTo>
                  <a:pt x="1219200" y="365760"/>
                </a:lnTo>
                <a:lnTo>
                  <a:pt x="1219200" y="1333500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FBF2E9"/>
          </a:solidFill>
          <a:ln xmlns:a="http://schemas.openxmlformats.org/drawingml/2006/main" w="15240">
            <a:solidFill>
              <a:srgbClr val="E0863F"/>
            </a:solidFill>
            <a:prstDash val="solid"/>
          </a:ln>
        </p:spPr>
      </p:sp>
      <p:sp>
        <p:nvSpPr>
          <p:cNvPr id="98" name="source-patch-fold-v">
            <a:extLst xmlns:a="http://schemas.openxmlformats.org/drawingml/2006/main">
              <a:ext uri="{FF2B5EF4-FFF2-40B4-BE49-F238E27FC236}">
                <a16:creationId xmlns:a16="http://schemas.microsoft.com/office/drawing/2014/main" id="{DE08515F-55FB-4C23-889F-D18C330D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25840" y="1619250"/>
            <a:ext cx="953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0863F"/>
            </a:solidFill>
            <a:prstDash val="solid"/>
          </a:ln>
        </p:spPr>
      </p:sp>
      <p:sp>
        <p:nvSpPr>
          <p:cNvPr id="99" name="source-patch-fold-h">
            <a:extLst xmlns:a="http://schemas.openxmlformats.org/drawingml/2006/main">
              <a:ext uri="{FF2B5EF4-FFF2-40B4-BE49-F238E27FC236}">
                <a16:creationId xmlns:a16="http://schemas.microsoft.com/office/drawing/2014/main" id="{078B8017-DF10-4A82-B941-21788724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25840" y="1985010"/>
            <a:ext cx="36576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0863F"/>
            </a:solidFill>
            <a:prstDash val="solid"/>
          </a:ln>
        </p:spPr>
      </p:sp>
      <p:sp>
        <p:nvSpPr>
          <p:cNvPr id="100" name="source-only-label">
            <a:extLst xmlns:a="http://schemas.openxmlformats.org/drawingml/2006/main">
              <a:ext uri="{FF2B5EF4-FFF2-40B4-BE49-F238E27FC236}">
                <a16:creationId xmlns:a16="http://schemas.microsoft.com/office/drawing/2014/main" id="{6F492A3C-4435-4223-BD93-FAB2547E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28826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13" b="1">
                <a:solidFill>
                  <a:srgbClr val="E0863F"/>
                </a:solidFill>
                <a:latin typeface="Arial"/>
                <a:ea typeface="Arial"/>
                <a:cs typeface="Arial"/>
              </a:rPr>
              <a:t>source-only</a:t>
            </a:r>
          </a:p>
        </p:txBody>
      </p:sp>
      <p:sp>
        <p:nvSpPr>
          <p:cNvPr id="101" name="patch-label">
            <a:extLst xmlns:a="http://schemas.openxmlformats.org/drawingml/2006/main">
              <a:ext uri="{FF2B5EF4-FFF2-40B4-BE49-F238E27FC236}">
                <a16:creationId xmlns:a16="http://schemas.microsoft.com/office/drawing/2014/main" id="{3C9B5D2C-17B3-4175-9E22-D9BE12C5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24101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13" b="1">
                <a:solidFill>
                  <a:srgbClr val="E0863F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102" name="no-state-label">
            <a:extLst xmlns:a="http://schemas.openxmlformats.org/drawingml/2006/main">
              <a:ext uri="{FF2B5EF4-FFF2-40B4-BE49-F238E27FC236}">
                <a16:creationId xmlns:a16="http://schemas.microsoft.com/office/drawing/2014/main" id="{02A29DB8-BEE8-492D-B116-A0BC7AD3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no trained weights or</a:t>
            </a:r>
          </a:p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cached state cross</a:t>
            </a:r>
          </a:p>
        </p:txBody>
      </p:sp>
      <p:sp>
        <p:nvSpPr>
          <p:cNvPr id="103" name="boundary-lock-shackle">
            <a:extLst xmlns:a="http://schemas.openxmlformats.org/drawingml/2006/main">
              <a:ext uri="{FF2B5EF4-FFF2-40B4-BE49-F238E27FC236}">
                <a16:creationId xmlns:a16="http://schemas.microsoft.com/office/drawing/2014/main" id="{56C6DEB6-2424-4B87-8256-4FF56FE3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699" y="3472053"/>
            <a:ext cx="252603" cy="2655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313C"/>
            </a:solidFill>
            <a:prstDash val="solid"/>
          </a:ln>
        </p:spPr>
      </p:sp>
      <p:sp>
        <p:nvSpPr>
          <p:cNvPr id="104" name="boundary-lock-body">
            <a:extLst xmlns:a="http://schemas.openxmlformats.org/drawingml/2006/main">
              <a:ext uri="{FF2B5EF4-FFF2-40B4-BE49-F238E27FC236}">
                <a16:creationId xmlns:a16="http://schemas.microsoft.com/office/drawing/2014/main" id="{CD874148-3840-493C-9238-D591BFC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883" y="3608070"/>
            <a:ext cx="356235" cy="275273"/>
          </a:xfrm>
          <a:prstGeom xmlns:a="http://schemas.openxmlformats.org/drawingml/2006/main" prst="roundRect">
            <a:avLst>
              <a:gd name="adj" fmla="val 17301"/>
            </a:avLst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26313C"/>
            </a:solidFill>
            <a:prstDash val="solid"/>
          </a:ln>
        </p:spPr>
      </p:sp>
      <p:sp>
        <p:nvSpPr>
          <p:cNvPr id="105" name="boundary-lock-keyhole">
            <a:extLst xmlns:a="http://schemas.openxmlformats.org/drawingml/2006/main">
              <a:ext uri="{FF2B5EF4-FFF2-40B4-BE49-F238E27FC236}">
                <a16:creationId xmlns:a16="http://schemas.microsoft.com/office/drawing/2014/main" id="{3582D564-9E59-48C6-B548-5553CC5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138" y="3682556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6" name="no-metric-return">
            <a:extLst xmlns:a="http://schemas.openxmlformats.org/drawingml/2006/main">
              <a:ext uri="{FF2B5EF4-FFF2-40B4-BE49-F238E27FC236}">
                <a16:creationId xmlns:a16="http://schemas.microsoft.com/office/drawing/2014/main" id="{505EE6EC-29FC-4798-84DE-C458B977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719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final metric does</a:t>
            </a:r>
          </a:p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not cross back</a:t>
            </a:r>
          </a:p>
        </p:txBody>
      </p:sp>
      <p:sp>
        <p:nvSpPr>
          <p:cNvPr id="107" name="replay-context-band">
            <a:extLst xmlns:a="http://schemas.openxmlformats.org/drawingml/2006/main">
              <a:ext uri="{FF2B5EF4-FFF2-40B4-BE49-F238E27FC236}">
                <a16:creationId xmlns:a16="http://schemas.microsoft.com/office/drawing/2014/main" id="{44758CF4-76D8-4EEB-AD14-3179EA75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04875"/>
            <a:ext cx="329565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CE0E5"/>
            </a:solidFill>
            <a:prstDash val="solid"/>
          </a:ln>
        </p:spPr>
      </p:sp>
      <p:sp>
        <p:nvSpPr>
          <p:cNvPr id="108" name="replay-context">
            <a:extLst xmlns:a="http://schemas.openxmlformats.org/drawingml/2006/main">
              <a:ext uri="{FF2B5EF4-FFF2-40B4-BE49-F238E27FC236}">
                <a16:creationId xmlns:a16="http://schemas.microsoft.com/office/drawing/2014/main" id="{63E0B3FB-F178-4169-B977-027A9DD8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1917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60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fresh retrain from the pinned commit  ·  start b</a:t>
            </a:r>
          </a:p>
        </p:txBody>
      </p:sp>
      <p:sp>
        <p:nvSpPr>
          <p:cNvPr id="109" name="apply-patch-surface">
            <a:extLst xmlns:a="http://schemas.openxmlformats.org/drawingml/2006/main">
              <a:ext uri="{FF2B5EF4-FFF2-40B4-BE49-F238E27FC236}">
                <a16:creationId xmlns:a16="http://schemas.microsoft.com/office/drawing/2014/main" id="{51844BFC-E512-40BB-ADB3-FE8EFE68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19250"/>
            <a:ext cx="762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0863F"/>
            </a:solidFill>
            <a:prstDash val="solid"/>
          </a:ln>
        </p:spPr>
      </p:sp>
      <p:sp>
        <p:nvSpPr>
          <p:cNvPr id="110" name="apply-patch-label">
            <a:extLst xmlns:a="http://schemas.openxmlformats.org/drawingml/2006/main">
              <a:ext uri="{FF2B5EF4-FFF2-40B4-BE49-F238E27FC236}">
                <a16:creationId xmlns:a16="http://schemas.microsoft.com/office/drawing/2014/main" id="{F2423FCA-31AB-4BA8-A1E0-5F4A4030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800225"/>
            <a:ext cx="704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50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apply</a:t>
            </a:r>
          </a:p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50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111" name="fresh-container-surface">
            <a:extLst xmlns:a="http://schemas.openxmlformats.org/drawingml/2006/main">
              <a:ext uri="{FF2B5EF4-FFF2-40B4-BE49-F238E27FC236}">
                <a16:creationId xmlns:a16="http://schemas.microsoft.com/office/drawing/2014/main" id="{B12E853B-6B28-42BE-8967-5633BBC0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619250"/>
            <a:ext cx="762000" cy="13335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0863F"/>
            </a:solidFill>
            <a:prstDash val="solid"/>
          </a:ln>
        </p:spPr>
      </p:sp>
      <p:sp>
        <p:nvSpPr>
          <p:cNvPr id="112" name="fresh-container-label">
            <a:extLst xmlns:a="http://schemas.openxmlformats.org/drawingml/2006/main">
              <a:ext uri="{FF2B5EF4-FFF2-40B4-BE49-F238E27FC236}">
                <a16:creationId xmlns:a16="http://schemas.microsoft.com/office/drawing/2014/main" id="{76E8F068-6033-4264-90C7-F58D61E2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800225"/>
            <a:ext cx="704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50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fresh</a:t>
            </a:r>
          </a:p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50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container</a:t>
            </a:r>
          </a:p>
        </p:txBody>
      </p:sp>
      <p:sp>
        <p:nvSpPr>
          <p:cNvPr id="113" name="replay-budget-surface">
            <a:extLst xmlns:a="http://schemas.openxmlformats.org/drawingml/2006/main">
              <a:ext uri="{FF2B5EF4-FFF2-40B4-BE49-F238E27FC236}">
                <a16:creationId xmlns:a16="http://schemas.microsoft.com/office/drawing/2014/main" id="{13D11BBF-D000-4FB8-A8B4-EF87B3EE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619250"/>
            <a:ext cx="762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0863F"/>
            </a:solidFill>
            <a:prstDash val="solid"/>
          </a:ln>
        </p:spPr>
      </p:sp>
      <p:sp>
        <p:nvSpPr>
          <p:cNvPr id="114" name="replay-budget-label">
            <a:extLst xmlns:a="http://schemas.openxmlformats.org/drawingml/2006/main">
              <a:ext uri="{FF2B5EF4-FFF2-40B4-BE49-F238E27FC236}">
                <a16:creationId xmlns:a16="http://schemas.microsoft.com/office/drawing/2014/main" id="{9A57A43B-53A7-492D-A812-144CCE97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800225"/>
            <a:ext cx="704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50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12 h ·</a:t>
            </a:r>
          </a:p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50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1 GPU</a:t>
            </a:r>
          </a:p>
        </p:txBody>
      </p:sp>
      <p:sp>
        <p:nvSpPr>
          <p:cNvPr id="115" name="valid-checkpoints-surface">
            <a:extLst xmlns:a="http://schemas.openxmlformats.org/drawingml/2006/main">
              <a:ext uri="{FF2B5EF4-FFF2-40B4-BE49-F238E27FC236}">
                <a16:creationId xmlns:a16="http://schemas.microsoft.com/office/drawing/2014/main" id="{D4173431-1450-49B8-887F-CC5CCB2C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1619250"/>
            <a:ext cx="914400" cy="13335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0863F"/>
            </a:solidFill>
            <a:prstDash val="solid"/>
          </a:ln>
        </p:spPr>
      </p:sp>
      <p:sp>
        <p:nvSpPr>
          <p:cNvPr id="116" name="valid-checkpoints-label">
            <a:extLst xmlns:a="http://schemas.openxmlformats.org/drawingml/2006/main">
              <a:ext uri="{FF2B5EF4-FFF2-40B4-BE49-F238E27FC236}">
                <a16:creationId xmlns:a16="http://schemas.microsoft.com/office/drawing/2014/main" id="{2870F569-618F-453E-898B-8233A79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762125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13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up to 3 valid</a:t>
            </a:r>
          </a:p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13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checkpoints</a:t>
            </a:r>
          </a:p>
        </p:txBody>
      </p:sp>
      <p:sp>
        <p:nvSpPr>
          <p:cNvPr id="117" name="artifact-origin-band">
            <a:extLst xmlns:a="http://schemas.openxmlformats.org/drawingml/2006/main">
              <a:ext uri="{FF2B5EF4-FFF2-40B4-BE49-F238E27FC236}">
                <a16:creationId xmlns:a16="http://schemas.microsoft.com/office/drawing/2014/main" id="{FDECE23B-9F49-4EAF-80D9-CBBE4AB2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28950"/>
            <a:ext cx="3295650" cy="542925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9525">
            <a:solidFill>
              <a:srgbClr val="E8B995"/>
            </a:solidFill>
            <a:prstDash val="solid"/>
          </a:ln>
        </p:spPr>
      </p:sp>
      <p:sp>
        <p:nvSpPr>
          <p:cNvPr id="118" name="artifact-origin">
            <a:extLst xmlns:a="http://schemas.openxmlformats.org/drawingml/2006/main">
              <a:ext uri="{FF2B5EF4-FFF2-40B4-BE49-F238E27FC236}">
                <a16:creationId xmlns:a16="http://schemas.microsoft.com/office/drawing/2014/main" id="{3130C16C-0F25-453E-8EF7-1858B567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00388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 b="1">
                <a:solidFill>
                  <a:srgbClr val="E0863F"/>
                </a:solidFill>
                <a:latin typeface="Arial"/>
                <a:ea typeface="Arial"/>
                <a:cs typeface="Arial"/>
              </a:rPr>
              <a:t>artifact produced by replay · exploration state is not carried over</a:t>
            </a:r>
          </a:p>
        </p:txBody>
      </p:sp>
      <p:sp>
        <p:nvSpPr>
          <p:cNvPr id="119" name="evaluation-surface">
            <a:extLst xmlns:a="http://schemas.openxmlformats.org/drawingml/2006/main">
              <a:ext uri="{FF2B5EF4-FFF2-40B4-BE49-F238E27FC236}">
                <a16:creationId xmlns:a16="http://schemas.microsoft.com/office/drawing/2014/main" id="{E6E13EB8-DE8A-44F5-BC7E-D3EAF89A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533650"/>
            <a:ext cx="3257550" cy="1905000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4288">
            <a:solidFill>
              <a:srgbClr val="DCE0E5"/>
            </a:solidFill>
            <a:prstDash val="solid"/>
          </a:ln>
        </p:spPr>
      </p:sp>
      <p:sp>
        <p:nvSpPr>
          <p:cNvPr id="120" name="eval-pill-surface">
            <a:extLst xmlns:a="http://schemas.openxmlformats.org/drawingml/2006/main">
              <a:ext uri="{FF2B5EF4-FFF2-40B4-BE49-F238E27FC236}">
                <a16:creationId xmlns:a16="http://schemas.microsoft.com/office/drawing/2014/main" id="{30C3B6EC-F61C-4267-ACAA-858F1AD0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2667000"/>
            <a:ext cx="1200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57A06C"/>
          </a:solidFill>
          <a:ln xmlns:a="http://schemas.openxmlformats.org/drawingml/2006/main" w="0">
            <a:solidFill>
              <a:srgbClr val="26313C"/>
            </a:solidFill>
            <a:prstDash val="solid"/>
          </a:ln>
        </p:spPr>
      </p:sp>
      <p:sp>
        <p:nvSpPr>
          <p:cNvPr id="121" name="eval-pill-label">
            <a:extLst xmlns:a="http://schemas.openxmlformats.org/drawingml/2006/main">
              <a:ext uri="{FF2B5EF4-FFF2-40B4-BE49-F238E27FC236}">
                <a16:creationId xmlns:a16="http://schemas.microsoft.com/office/drawing/2014/main" id="{76FF3C44-622E-4654-BD6E-1DFA5BDA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26860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</a:t>
            </a:r>
          </a:p>
        </p:txBody>
      </p:sp>
      <p:sp>
        <p:nvSpPr>
          <p:cNvPr id="122" name="evaluator-label">
            <a:extLst xmlns:a="http://schemas.openxmlformats.org/drawingml/2006/main">
              <a:ext uri="{FF2B5EF4-FFF2-40B4-BE49-F238E27FC236}">
                <a16:creationId xmlns:a16="http://schemas.microsoft.com/office/drawing/2014/main" id="{52F4E3DD-B768-4E09-B5E0-8C0085D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305752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50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frozen evaluator</a:t>
            </a:r>
          </a:p>
        </p:txBody>
      </p:sp>
      <p:sp>
        <p:nvSpPr>
          <p:cNvPr id="123" name="evaluator-boundary">
            <a:extLst xmlns:a="http://schemas.openxmlformats.org/drawingml/2006/main">
              <a:ext uri="{FF2B5EF4-FFF2-40B4-BE49-F238E27FC236}">
                <a16:creationId xmlns:a16="http://schemas.microsoft.com/office/drawing/2014/main" id="{BB754BCE-D9B1-4573-96B5-BE8CB995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3337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reads nothing from the agent workspace</a:t>
            </a:r>
          </a:p>
        </p:txBody>
      </p:sp>
      <p:sp>
        <p:nvSpPr>
          <p:cNvPr id="124" name="metric-pill-surface">
            <a:extLst xmlns:a="http://schemas.openxmlformats.org/drawingml/2006/main">
              <a:ext uri="{FF2B5EF4-FFF2-40B4-BE49-F238E27FC236}">
                <a16:creationId xmlns:a16="http://schemas.microsoft.com/office/drawing/2014/main" id="{C7526DC3-057A-4D25-BD71-7F5200F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667000"/>
            <a:ext cx="1524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26313C"/>
            </a:solidFill>
            <a:prstDash val="solid"/>
          </a:ln>
        </p:spPr>
      </p:sp>
      <p:sp>
        <p:nvSpPr>
          <p:cNvPr id="125" name="metric-pill-label">
            <a:extLst xmlns:a="http://schemas.openxmlformats.org/drawingml/2006/main">
              <a:ext uri="{FF2B5EF4-FFF2-40B4-BE49-F238E27FC236}">
                <a16:creationId xmlns:a16="http://schemas.microsoft.com/office/drawing/2014/main" id="{4119099D-DBB7-445D-91C0-DD33487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686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METRIC</a:t>
            </a:r>
          </a:p>
        </p:txBody>
      </p:sp>
      <p:sp>
        <p:nvSpPr>
          <p:cNvPr id="12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D0F95927-7EE3-442D-A960-383BB698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05752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125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test NLL ↓</a:t>
            </a:r>
          </a:p>
        </p:txBody>
      </p:sp>
      <p:sp>
        <p:nvSpPr>
          <p:cNvPr id="127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395FE81C-4832-48B7-96B8-165F6845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33337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real QM9 test split · 10,000 molecules</a:t>
            </a:r>
          </a:p>
        </p:txBody>
      </p:sp>
      <p:sp>
        <p:nvSpPr>
          <p:cNvPr id="128" name="metric-hidden">
            <a:extLst xmlns:a="http://schemas.openxmlformats.org/drawingml/2006/main">
              <a:ext uri="{FF2B5EF4-FFF2-40B4-BE49-F238E27FC236}">
                <a16:creationId xmlns:a16="http://schemas.microsoft.com/office/drawing/2014/main" id="{42677BD1-8467-42FD-96E3-104CAB33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98145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hidden from the agent</a:t>
            </a:r>
          </a:p>
        </p:txBody>
      </p:sp>
      <p:sp>
        <p:nvSpPr>
          <p:cNvPr id="129" name="reduction-surface">
            <a:extLst xmlns:a="http://schemas.openxmlformats.org/drawingml/2006/main">
              <a:ext uri="{FF2B5EF4-FFF2-40B4-BE49-F238E27FC236}">
                <a16:creationId xmlns:a16="http://schemas.microsoft.com/office/drawing/2014/main" id="{86E82287-00DF-49C2-8634-E852D548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76250"/>
            <a:ext cx="3257550" cy="1905000"/>
          </a:xfrm>
          <a:prstGeom xmlns:a="http://schemas.openxmlformats.org/drawingml/2006/main" prst="roundRect">
            <a:avLst>
              <a:gd name="adj" fmla="val 559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4288">
            <a:solidFill>
              <a:srgbClr val="DCE0E5"/>
            </a:solidFill>
            <a:prstDash val="solid"/>
          </a:ln>
        </p:spPr>
      </p:sp>
      <p:sp>
        <p:nvSpPr>
          <p:cNvPr id="130" name="reduction-pill-surface">
            <a:extLst xmlns:a="http://schemas.openxmlformats.org/drawingml/2006/main">
              <a:ext uri="{FF2B5EF4-FFF2-40B4-BE49-F238E27FC236}">
                <a16:creationId xmlns:a16="http://schemas.microsoft.com/office/drawing/2014/main" id="{D802BEB6-4576-43EF-A95F-56575BA2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09600"/>
            <a:ext cx="2800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ECE3"/>
          </a:solidFill>
          <a:ln xmlns:a="http://schemas.openxmlformats.org/drawingml/2006/main" w="0">
            <a:solidFill>
              <a:srgbClr val="E4DCCF"/>
            </a:solidFill>
            <a:prstDash val="solid"/>
          </a:ln>
        </p:spPr>
      </p:sp>
      <p:sp>
        <p:nvSpPr>
          <p:cNvPr id="131" name="reduction-pill-label">
            <a:extLst xmlns:a="http://schemas.openxmlformats.org/drawingml/2006/main">
              <a:ext uri="{FF2B5EF4-FFF2-40B4-BE49-F238E27FC236}">
                <a16:creationId xmlns:a16="http://schemas.microsoft.com/office/drawing/2014/main" id="{AAFCB5AA-B97F-4B28-B0DD-3B9BA5B4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28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75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CHECKPOINT REDUCTION</a:t>
            </a:r>
          </a:p>
        </p:txBody>
      </p:sp>
      <p:sp>
        <p:nvSpPr>
          <p:cNvPr id="132" name="checkpoint-1-body">
            <a:extLst xmlns:a="http://schemas.openxmlformats.org/drawingml/2006/main">
              <a:ext uri="{FF2B5EF4-FFF2-40B4-BE49-F238E27FC236}">
                <a16:creationId xmlns:a16="http://schemas.microsoft.com/office/drawing/2014/main" id="{960F5D8B-68B4-4066-829F-0C60CE6D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952500"/>
            <a:ext cx="419100" cy="447675"/>
          </a:xfrm>
          <a:custGeom xmlns:a="http://schemas.openxmlformats.org/drawingml/2006/main">
            <a:pathLst>
              <a:path w="419100" h="447675">
                <a:moveTo>
                  <a:pt x="0" y="0"/>
                </a:moveTo>
                <a:lnTo>
                  <a:pt x="293370" y="0"/>
                </a:lnTo>
                <a:lnTo>
                  <a:pt x="419100" y="125730"/>
                </a:lnTo>
                <a:lnTo>
                  <a:pt x="419100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0863F"/>
            </a:solidFill>
            <a:prstDash val="solid"/>
          </a:ln>
        </p:spPr>
      </p:sp>
      <p:sp>
        <p:nvSpPr>
          <p:cNvPr id="133" name="checkpoint-1-fold-v">
            <a:extLst xmlns:a="http://schemas.openxmlformats.org/drawingml/2006/main">
              <a:ext uri="{FF2B5EF4-FFF2-40B4-BE49-F238E27FC236}">
                <a16:creationId xmlns:a16="http://schemas.microsoft.com/office/drawing/2014/main" id="{639A59DC-11F1-44CD-B952-FD73AF45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523720" y="952500"/>
            <a:ext cx="953" cy="125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0863F"/>
            </a:solidFill>
            <a:prstDash val="solid"/>
          </a:ln>
        </p:spPr>
      </p:sp>
      <p:sp>
        <p:nvSpPr>
          <p:cNvPr id="134" name="checkpoint-1-fold-h">
            <a:extLst xmlns:a="http://schemas.openxmlformats.org/drawingml/2006/main">
              <a:ext uri="{FF2B5EF4-FFF2-40B4-BE49-F238E27FC236}">
                <a16:creationId xmlns:a16="http://schemas.microsoft.com/office/drawing/2014/main" id="{ABF81735-7E10-4580-95B9-D5F579BD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523720" y="1078230"/>
            <a:ext cx="1257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0863F"/>
            </a:solidFill>
            <a:prstDash val="solid"/>
          </a:ln>
        </p:spPr>
      </p:sp>
      <p:sp>
        <p:nvSpPr>
          <p:cNvPr id="135" name="checkpoint-1-label">
            <a:extLst xmlns:a="http://schemas.openxmlformats.org/drawingml/2006/main">
              <a:ext uri="{FF2B5EF4-FFF2-40B4-BE49-F238E27FC236}">
                <a16:creationId xmlns:a16="http://schemas.microsoft.com/office/drawing/2014/main" id="{1B5352BF-BD23-4EEE-8065-6A563C87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1104900"/>
            <a:ext cx="381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 b="1">
                <a:solidFill>
                  <a:srgbClr val="E0863F"/>
                </a:solidFill>
                <a:latin typeface="Arial"/>
                <a:ea typeface="Arial"/>
                <a:cs typeface="Arial"/>
              </a:rPr>
              <a:t>ckpt 1</a:t>
            </a:r>
          </a:p>
        </p:txBody>
      </p:sp>
      <p:sp>
        <p:nvSpPr>
          <p:cNvPr id="136" name="checkpoint-1-stem">
            <a:extLst xmlns:a="http://schemas.openxmlformats.org/drawingml/2006/main">
              <a:ext uri="{FF2B5EF4-FFF2-40B4-BE49-F238E27FC236}">
                <a16:creationId xmlns:a16="http://schemas.microsoft.com/office/drawing/2014/main" id="{69C6FA79-744E-412E-8898-7F975CFA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39900" y="140970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6313C"/>
            </a:solidFill>
            <a:prstDash val="solid"/>
          </a:ln>
        </p:spPr>
      </p:sp>
      <p:sp>
        <p:nvSpPr>
          <p:cNvPr id="137" name="checkpoint-2-body">
            <a:extLst xmlns:a="http://schemas.openxmlformats.org/drawingml/2006/main">
              <a:ext uri="{FF2B5EF4-FFF2-40B4-BE49-F238E27FC236}">
                <a16:creationId xmlns:a16="http://schemas.microsoft.com/office/drawing/2014/main" id="{4ACB8C19-A04B-4AF1-B534-E542D3E9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952500"/>
            <a:ext cx="419100" cy="447675"/>
          </a:xfrm>
          <a:custGeom xmlns:a="http://schemas.openxmlformats.org/drawingml/2006/main">
            <a:pathLst>
              <a:path w="419100" h="447675">
                <a:moveTo>
                  <a:pt x="0" y="0"/>
                </a:moveTo>
                <a:lnTo>
                  <a:pt x="293370" y="0"/>
                </a:lnTo>
                <a:lnTo>
                  <a:pt x="419100" y="125730"/>
                </a:lnTo>
                <a:lnTo>
                  <a:pt x="419100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0863F"/>
            </a:solidFill>
            <a:prstDash val="solid"/>
          </a:ln>
        </p:spPr>
      </p:sp>
      <p:sp>
        <p:nvSpPr>
          <p:cNvPr id="138" name="checkpoint-2-fold-v">
            <a:extLst xmlns:a="http://schemas.openxmlformats.org/drawingml/2006/main">
              <a:ext uri="{FF2B5EF4-FFF2-40B4-BE49-F238E27FC236}">
                <a16:creationId xmlns:a16="http://schemas.microsoft.com/office/drawing/2014/main" id="{0952795E-1F46-4B30-9F0E-EF13A112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28570" y="952500"/>
            <a:ext cx="953" cy="125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0863F"/>
            </a:solidFill>
            <a:prstDash val="solid"/>
          </a:ln>
        </p:spPr>
      </p:sp>
      <p:sp>
        <p:nvSpPr>
          <p:cNvPr id="139" name="checkpoint-2-fold-h">
            <a:extLst xmlns:a="http://schemas.openxmlformats.org/drawingml/2006/main">
              <a:ext uri="{FF2B5EF4-FFF2-40B4-BE49-F238E27FC236}">
                <a16:creationId xmlns:a16="http://schemas.microsoft.com/office/drawing/2014/main" id="{44388CFF-5297-4FEF-9393-1B3888E4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28570" y="1078230"/>
            <a:ext cx="1257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0863F"/>
            </a:solidFill>
            <a:prstDash val="solid"/>
          </a:ln>
        </p:spPr>
      </p:sp>
      <p:sp>
        <p:nvSpPr>
          <p:cNvPr id="140" name="checkpoint-2-label">
            <a:extLst xmlns:a="http://schemas.openxmlformats.org/drawingml/2006/main">
              <a:ext uri="{FF2B5EF4-FFF2-40B4-BE49-F238E27FC236}">
                <a16:creationId xmlns:a16="http://schemas.microsoft.com/office/drawing/2014/main" id="{1234E3F3-0325-4F3B-BE68-AF2B7336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104900"/>
            <a:ext cx="381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 b="1">
                <a:solidFill>
                  <a:srgbClr val="E0863F"/>
                </a:solidFill>
                <a:latin typeface="Arial"/>
                <a:ea typeface="Arial"/>
                <a:cs typeface="Arial"/>
              </a:rPr>
              <a:t>ckpt 2</a:t>
            </a:r>
          </a:p>
        </p:txBody>
      </p:sp>
      <p:sp>
        <p:nvSpPr>
          <p:cNvPr id="141" name="checkpoint-2-stem">
            <a:extLst xmlns:a="http://schemas.openxmlformats.org/drawingml/2006/main">
              <a:ext uri="{FF2B5EF4-FFF2-40B4-BE49-F238E27FC236}">
                <a16:creationId xmlns:a16="http://schemas.microsoft.com/office/drawing/2014/main" id="{D31B2682-E2B8-477F-AC79-5BA2BA58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144750" y="140970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6313C"/>
            </a:solidFill>
            <a:prstDash val="solid"/>
          </a:ln>
        </p:spPr>
      </p:sp>
      <p:sp>
        <p:nvSpPr>
          <p:cNvPr id="142" name="checkpoint-3-body">
            <a:extLst xmlns:a="http://schemas.openxmlformats.org/drawingml/2006/main">
              <a:ext uri="{FF2B5EF4-FFF2-40B4-BE49-F238E27FC236}">
                <a16:creationId xmlns:a16="http://schemas.microsoft.com/office/drawing/2014/main" id="{B7F96704-A08A-4AA5-AD1B-7DF67A49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952500"/>
            <a:ext cx="419100" cy="447675"/>
          </a:xfrm>
          <a:custGeom xmlns:a="http://schemas.openxmlformats.org/drawingml/2006/main">
            <a:pathLst>
              <a:path w="419100" h="447675">
                <a:moveTo>
                  <a:pt x="0" y="0"/>
                </a:moveTo>
                <a:lnTo>
                  <a:pt x="293370" y="0"/>
                </a:lnTo>
                <a:lnTo>
                  <a:pt x="419100" y="125730"/>
                </a:lnTo>
                <a:lnTo>
                  <a:pt x="419100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0863F"/>
            </a:solidFill>
            <a:prstDash val="solid"/>
          </a:ln>
        </p:spPr>
      </p:sp>
      <p:sp>
        <p:nvSpPr>
          <p:cNvPr id="143" name="checkpoint-3-fold-v">
            <a:extLst xmlns:a="http://schemas.openxmlformats.org/drawingml/2006/main">
              <a:ext uri="{FF2B5EF4-FFF2-40B4-BE49-F238E27FC236}">
                <a16:creationId xmlns:a16="http://schemas.microsoft.com/office/drawing/2014/main" id="{423C8491-3CAF-4E1A-B952-95596A9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933420" y="952500"/>
            <a:ext cx="953" cy="125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0863F"/>
            </a:solidFill>
            <a:prstDash val="solid"/>
          </a:ln>
        </p:spPr>
      </p:sp>
      <p:sp>
        <p:nvSpPr>
          <p:cNvPr id="144" name="checkpoint-3-fold-h">
            <a:extLst xmlns:a="http://schemas.openxmlformats.org/drawingml/2006/main">
              <a:ext uri="{FF2B5EF4-FFF2-40B4-BE49-F238E27FC236}">
                <a16:creationId xmlns:a16="http://schemas.microsoft.com/office/drawing/2014/main" id="{C34A579C-989C-4997-8A03-7E585F8D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933420" y="1078230"/>
            <a:ext cx="1257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0863F"/>
            </a:solidFill>
            <a:prstDash val="solid"/>
          </a:ln>
        </p:spPr>
      </p:sp>
      <p:sp>
        <p:nvSpPr>
          <p:cNvPr id="145" name="checkpoint-3-label">
            <a:extLst xmlns:a="http://schemas.openxmlformats.org/drawingml/2006/main">
              <a:ext uri="{FF2B5EF4-FFF2-40B4-BE49-F238E27FC236}">
                <a16:creationId xmlns:a16="http://schemas.microsoft.com/office/drawing/2014/main" id="{1B605CF3-7FB5-409E-B1DA-AC6C09AF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104900"/>
            <a:ext cx="381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00" b="1">
                <a:solidFill>
                  <a:srgbClr val="E0863F"/>
                </a:solidFill>
                <a:latin typeface="Arial"/>
                <a:ea typeface="Arial"/>
                <a:cs typeface="Arial"/>
              </a:rPr>
              <a:t>ckpt 3</a:t>
            </a:r>
          </a:p>
        </p:txBody>
      </p:sp>
      <p:sp>
        <p:nvSpPr>
          <p:cNvPr id="146" name="checkpoint-3-stem">
            <a:extLst xmlns:a="http://schemas.openxmlformats.org/drawingml/2006/main">
              <a:ext uri="{FF2B5EF4-FFF2-40B4-BE49-F238E27FC236}">
                <a16:creationId xmlns:a16="http://schemas.microsoft.com/office/drawing/2014/main" id="{9619C008-6526-4D2D-A368-51D82A30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849600" y="140970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6313C"/>
            </a:solidFill>
            <a:prstDash val="solid"/>
          </a:ln>
        </p:spPr>
      </p:sp>
      <p:sp>
        <p:nvSpPr>
          <p:cNvPr id="147" name="checkpoint-ellipsis">
            <a:extLst xmlns:a="http://schemas.openxmlformats.org/drawingml/2006/main">
              <a:ext uri="{FF2B5EF4-FFF2-40B4-BE49-F238E27FC236}">
                <a16:creationId xmlns:a16="http://schemas.microsoft.com/office/drawing/2014/main" id="{5DBA7491-77E7-4A1B-A341-EF3AC956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9163" y="1082040"/>
            <a:ext cx="333375" cy="18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50">
                <a:solidFill>
                  <a:srgbClr val="6B728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48" name="checkpoint-bracket">
            <a:extLst xmlns:a="http://schemas.openxmlformats.org/drawingml/2006/main">
              <a:ext uri="{FF2B5EF4-FFF2-40B4-BE49-F238E27FC236}">
                <a16:creationId xmlns:a16="http://schemas.microsoft.com/office/drawing/2014/main" id="{2C7B4F67-E6E9-46C7-BB18-4E5B08B5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39900" y="1476375"/>
            <a:ext cx="1409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6313C"/>
            </a:solidFill>
            <a:prstDash val="solid"/>
          </a:ln>
        </p:spPr>
      </p:sp>
      <p:sp>
        <p:nvSpPr>
          <p:cNvPr id="149" name="score-rule-surface">
            <a:extLst xmlns:a="http://schemas.openxmlformats.org/drawingml/2006/main">
              <a:ext uri="{FF2B5EF4-FFF2-40B4-BE49-F238E27FC236}">
                <a16:creationId xmlns:a16="http://schemas.microsoft.com/office/drawing/2014/main" id="{69C5DC2A-6272-43CD-A60C-9F11B75B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1647825"/>
            <a:ext cx="2000250" cy="2762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0478">
            <a:solidFill>
              <a:srgbClr val="DCE0E5"/>
            </a:solidFill>
            <a:prstDash val="solid"/>
          </a:ln>
        </p:spPr>
      </p:sp>
      <p:sp>
        <p:nvSpPr>
          <p:cNvPr id="150" name="score-rule-label">
            <a:extLst xmlns:a="http://schemas.openxmlformats.org/drawingml/2006/main">
              <a:ext uri="{FF2B5EF4-FFF2-40B4-BE49-F238E27FC236}">
                <a16:creationId xmlns:a16="http://schemas.microsoft.com/office/drawing/2014/main" id="{5BC724CD-BCF4-42A3-BAE2-C5737C20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167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1013">
                <a:solidFill>
                  <a:srgbClr val="26313C"/>
                </a:solidFill>
                <a:latin typeface="Arial"/>
                <a:ea typeface="Arial"/>
                <a:cs typeface="Arial"/>
              </a:rPr>
              <a:t>score each  →  take min ↓</a:t>
            </a:r>
          </a:p>
        </p:txBody>
      </p:sp>
      <p:sp>
        <p:nvSpPr>
          <p:cNvPr id="151" name="config-output">
            <a:extLst xmlns:a="http://schemas.openxmlformats.org/drawingml/2006/main">
              <a:ext uri="{FF2B5EF4-FFF2-40B4-BE49-F238E27FC236}">
                <a16:creationId xmlns:a16="http://schemas.microsoft.com/office/drawing/2014/main" id="{D64619B3-AF2C-4F75-B404-538E90F6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076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algn="ctr">
              <a:lnSpc>
                <a:spcPct val="92000"/>
              </a:lnSpc>
              <a:buNone/>
            </a:pPr>
            <a:r>
              <a:rPr sz="938" b="1">
                <a:solidFill>
                  <a:srgbClr val="26313C"/>
                </a:solidFill>
                <a:latin typeface="Arial"/>
                <a:ea typeface="Arial"/>
                <a:cs typeface="Arial"/>
              </a:rPr>
              <a:t>one number per config  (best of ≤ 3)</a:t>
            </a:r>
          </a:p>
        </p:txBody>
      </p:sp>
    </p:spTree>
    <p:extLst>
      <p:ext uri="{BB962C8B-B14F-4D97-AF65-F5344CB8AC3E}">
        <p14:creationId xmlns:p14="http://schemas.microsoft.com/office/powerpoint/2010/main" val="1291840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2026-08-19T03:16:39.1380000Z</dcterms:created>
  <dcterms:modified xsi:type="dcterms:W3CDTF">2026-08-19T03:16:39.1380000Z</dcterms:modified>
</coreProperties>
</file>